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8" r:id="rId2"/>
    <p:sldId id="257" r:id="rId3"/>
    <p:sldId id="259" r:id="rId4"/>
    <p:sldId id="260" r:id="rId5"/>
    <p:sldId id="261" r:id="rId6"/>
    <p:sldId id="281" r:id="rId7"/>
    <p:sldId id="264" r:id="rId8"/>
    <p:sldId id="272" r:id="rId9"/>
    <p:sldId id="273" r:id="rId10"/>
    <p:sldId id="274" r:id="rId11"/>
    <p:sldId id="275" r:id="rId12"/>
    <p:sldId id="276" r:id="rId13"/>
    <p:sldId id="277" r:id="rId14"/>
    <p:sldId id="278" r:id="rId15"/>
    <p:sldId id="279" r:id="rId16"/>
    <p:sldId id="280" r:id="rId17"/>
    <p:sldId id="282" r:id="rId18"/>
    <p:sldId id="283" r:id="rId19"/>
    <p:sldId id="284" r:id="rId20"/>
    <p:sldId id="285" r:id="rId21"/>
    <p:sldId id="286" r:id="rId22"/>
    <p:sldId id="287" r:id="rId23"/>
    <p:sldId id="288" r:id="rId24"/>
    <p:sldId id="28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44"/>
    <p:restoredTop sz="94564"/>
  </p:normalViewPr>
  <p:slideViewPr>
    <p:cSldViewPr snapToGrid="0">
      <p:cViewPr varScale="1">
        <p:scale>
          <a:sx n="115" d="100"/>
          <a:sy n="115" d="100"/>
        </p:scale>
        <p:origin x="1096"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3C13C-5451-C04A-92CB-B6E8D4C48D75}" type="datetimeFigureOut">
              <a:rPr lang="en-US" smtClean="0"/>
              <a:t>7/30/26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CE3452-FC02-B04A-8830-3C2D224105B4}" type="slidenum">
              <a:rPr lang="en-US" smtClean="0"/>
              <a:t>‹#›</a:t>
            </a:fld>
            <a:endParaRPr lang="en-US"/>
          </a:p>
        </p:txBody>
      </p:sp>
    </p:spTree>
    <p:extLst>
      <p:ext uri="{BB962C8B-B14F-4D97-AF65-F5344CB8AC3E}">
        <p14:creationId xmlns:p14="http://schemas.microsoft.com/office/powerpoint/2010/main" val="84228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5CE3452-FC02-B04A-8830-3C2D224105B4}" type="slidenum">
              <a:rPr lang="en-US" smtClean="0"/>
              <a:t>5</a:t>
            </a:fld>
            <a:endParaRPr lang="en-US"/>
          </a:p>
        </p:txBody>
      </p:sp>
    </p:spTree>
    <p:extLst>
      <p:ext uri="{BB962C8B-B14F-4D97-AF65-F5344CB8AC3E}">
        <p14:creationId xmlns:p14="http://schemas.microsoft.com/office/powerpoint/2010/main" val="188776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B93ED-E6DB-BEB2-FB58-F5D53CDDDF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57DA8A-2B1E-C673-2513-92111832D9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09D391-15C3-6EBA-0B41-691A24E6CC36}"/>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5" name="Footer Placeholder 4">
            <a:extLst>
              <a:ext uri="{FF2B5EF4-FFF2-40B4-BE49-F238E27FC236}">
                <a16:creationId xmlns:a16="http://schemas.microsoft.com/office/drawing/2014/main" id="{CA83831E-B37E-8339-BA50-F1224C41BF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AF0C9-505A-B650-6845-403CC390A949}"/>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206230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ED93-2661-FC05-1FE6-484D24D366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CBF6AC-CF6C-D9C8-9D55-94AF3D3628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FE2C7B-96FD-70F1-C86F-89DA27074D0F}"/>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5" name="Footer Placeholder 4">
            <a:extLst>
              <a:ext uri="{FF2B5EF4-FFF2-40B4-BE49-F238E27FC236}">
                <a16:creationId xmlns:a16="http://schemas.microsoft.com/office/drawing/2014/main" id="{624A6F9C-9225-D7B7-D127-69CD622B6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DF0BEC-2B8B-9644-C08F-15856291B99B}"/>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145405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0AFC2-D526-86CF-AA1C-6FF342776C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811545-926B-A65D-75B1-0772381294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4D61F-3CF4-A981-6761-3686460B07B0}"/>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5" name="Footer Placeholder 4">
            <a:extLst>
              <a:ext uri="{FF2B5EF4-FFF2-40B4-BE49-F238E27FC236}">
                <a16:creationId xmlns:a16="http://schemas.microsoft.com/office/drawing/2014/main" id="{765A941B-F43F-22CB-1653-1047F67B3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087D3F-E508-B475-564F-E06AEBDCB436}"/>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2480969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272FB-C045-DA89-65B0-82270AEA10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EB08E4-F171-EE39-0A27-C2653F1BA0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E0F82D-551B-E467-2EBA-F9076F3020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58C759-3F17-24C3-EC53-C0AA0C7280D4}"/>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6" name="Footer Placeholder 5">
            <a:extLst>
              <a:ext uri="{FF2B5EF4-FFF2-40B4-BE49-F238E27FC236}">
                <a16:creationId xmlns:a16="http://schemas.microsoft.com/office/drawing/2014/main" id="{66F84C4C-5C4E-679A-435D-EF34A1BFF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28B56-0ED2-ABFE-3E97-7E4CC9F4D0FF}"/>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3045893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C4730-32DC-56A7-3E49-7EDE671076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B71D39-F92B-84C1-B428-CE3025BC1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A10ABB-0558-F712-E554-B47B7E8168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FBFC34-08A2-4027-77FE-0690172086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0CB73C-BB78-3968-0001-CFB942C5EC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39D53A-F347-5AFF-4D40-1F611811A27C}"/>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8" name="Footer Placeholder 7">
            <a:extLst>
              <a:ext uri="{FF2B5EF4-FFF2-40B4-BE49-F238E27FC236}">
                <a16:creationId xmlns:a16="http://schemas.microsoft.com/office/drawing/2014/main" id="{B0BEF389-A645-645A-313F-A73883E821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D2BF0A-A02D-350F-6C50-AEAEEF430325}"/>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72805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8817-F26A-4AB9-6D78-583AB40413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3404ED-2AAA-1912-09FA-03688470DB1A}"/>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4" name="Footer Placeholder 3">
            <a:extLst>
              <a:ext uri="{FF2B5EF4-FFF2-40B4-BE49-F238E27FC236}">
                <a16:creationId xmlns:a16="http://schemas.microsoft.com/office/drawing/2014/main" id="{57CC8C7F-8F2E-ECFA-C136-FAD9CAD6B7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9B76D6-FB15-E82C-7AA9-1750519D59A4}"/>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2441326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AB6AD3-F7DA-838E-343C-3331CE67D2FB}"/>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3" name="Footer Placeholder 2">
            <a:extLst>
              <a:ext uri="{FF2B5EF4-FFF2-40B4-BE49-F238E27FC236}">
                <a16:creationId xmlns:a16="http://schemas.microsoft.com/office/drawing/2014/main" id="{C3971876-40C9-04CD-9E84-FEAEE100A0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837DF-5CA5-C968-6B58-758BD67456F9}"/>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1918228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0E77-CA9D-747E-DE1D-4684BA056F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25A123-F597-C0DF-CAE4-5D2E82042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DD80DC-50ED-960F-70E6-9CFD2E206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ACA02-1765-03DB-B5AC-7AF6B422F27A}"/>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6" name="Footer Placeholder 5">
            <a:extLst>
              <a:ext uri="{FF2B5EF4-FFF2-40B4-BE49-F238E27FC236}">
                <a16:creationId xmlns:a16="http://schemas.microsoft.com/office/drawing/2014/main" id="{2F1D39E1-B9B3-DA89-942D-5B57169F42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29AA45-CEC8-DD19-F28D-03135AF77A8C}"/>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3622252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3603-5567-CD84-D823-3DDEED2882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3ACC77-4A26-E646-0519-754D230388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27E2ED-9641-873E-7844-A3E24A0DE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3594C-EDB8-3BCC-1ED1-C81A94BB58C3}"/>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6" name="Footer Placeholder 5">
            <a:extLst>
              <a:ext uri="{FF2B5EF4-FFF2-40B4-BE49-F238E27FC236}">
                <a16:creationId xmlns:a16="http://schemas.microsoft.com/office/drawing/2014/main" id="{DD0CA5A5-13B2-6A8B-C4F8-CA455BA738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2CF072-92C9-0CB8-D970-DE0DF77E8DD5}"/>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1616552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33B65-F6C7-2DF3-180E-98E2071F3F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EF16C7-7232-BC46-DBA0-569A5B95BC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D35EB-963B-A493-8A25-F61529B09AA6}"/>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5" name="Footer Placeholder 4">
            <a:extLst>
              <a:ext uri="{FF2B5EF4-FFF2-40B4-BE49-F238E27FC236}">
                <a16:creationId xmlns:a16="http://schemas.microsoft.com/office/drawing/2014/main" id="{99FDE78F-8376-EC2D-7550-BFAFA58B8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9E496-86DA-AEB3-6B0F-8EEC2DF88C73}"/>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4029455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AE4933-94ED-3032-DE6F-547199B0A4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DBC883-57F9-507F-44EE-4265A705E8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1EF45-84B7-7262-2C59-8457A14BE122}"/>
              </a:ext>
            </a:extLst>
          </p:cNvPr>
          <p:cNvSpPr>
            <a:spLocks noGrp="1"/>
          </p:cNvSpPr>
          <p:nvPr>
            <p:ph type="dt" sz="half" idx="10"/>
          </p:nvPr>
        </p:nvSpPr>
        <p:spPr/>
        <p:txBody>
          <a:bodyPr/>
          <a:lstStyle/>
          <a:p>
            <a:fld id="{FA2188E0-9518-8B47-9AD8-92D198256AA3}" type="datetimeFigureOut">
              <a:rPr lang="en-US" smtClean="0"/>
              <a:t>7/30/26</a:t>
            </a:fld>
            <a:endParaRPr lang="en-US"/>
          </a:p>
        </p:txBody>
      </p:sp>
      <p:sp>
        <p:nvSpPr>
          <p:cNvPr id="5" name="Footer Placeholder 4">
            <a:extLst>
              <a:ext uri="{FF2B5EF4-FFF2-40B4-BE49-F238E27FC236}">
                <a16:creationId xmlns:a16="http://schemas.microsoft.com/office/drawing/2014/main" id="{D02E3F5B-E96D-98A0-9FED-88022F15B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B890B-F7AD-C1FC-B4B7-CA1ECB257B66}"/>
              </a:ext>
            </a:extLst>
          </p:cNvPr>
          <p:cNvSpPr>
            <a:spLocks noGrp="1"/>
          </p:cNvSpPr>
          <p:nvPr>
            <p:ph type="sldNum" sz="quarter" idx="12"/>
          </p:nvPr>
        </p:nvSpPr>
        <p:spPr/>
        <p:txBody>
          <a:bodyPr/>
          <a:lstStyle/>
          <a:p>
            <a:fld id="{10A820D4-B1F6-C647-950F-467BE2627753}" type="slidenum">
              <a:rPr lang="en-US" smtClean="0"/>
              <a:t>‹#›</a:t>
            </a:fld>
            <a:endParaRPr lang="en-US"/>
          </a:p>
        </p:txBody>
      </p:sp>
    </p:spTree>
    <p:extLst>
      <p:ext uri="{BB962C8B-B14F-4D97-AF65-F5344CB8AC3E}">
        <p14:creationId xmlns:p14="http://schemas.microsoft.com/office/powerpoint/2010/main" val="4267553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835ADE-9EF3-23E8-DB38-1F121348FF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6793CC-A7F7-A2FC-D159-E2AE1FEE9B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0A10D-B3F4-E20C-2883-BB0B66F9F1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2188E0-9518-8B47-9AD8-92D198256AA3}" type="datetimeFigureOut">
              <a:rPr lang="en-US" smtClean="0"/>
              <a:t>7/30/26</a:t>
            </a:fld>
            <a:endParaRPr lang="en-US"/>
          </a:p>
        </p:txBody>
      </p:sp>
      <p:sp>
        <p:nvSpPr>
          <p:cNvPr id="5" name="Footer Placeholder 4">
            <a:extLst>
              <a:ext uri="{FF2B5EF4-FFF2-40B4-BE49-F238E27FC236}">
                <a16:creationId xmlns:a16="http://schemas.microsoft.com/office/drawing/2014/main" id="{CE947A2B-AFCC-D097-13ED-4A94091112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99FA1AD-65C4-837D-9EE9-69FC437B05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A820D4-B1F6-C647-950F-467BE2627753}" type="slidenum">
              <a:rPr lang="en-US" smtClean="0"/>
              <a:t>‹#›</a:t>
            </a:fld>
            <a:endParaRPr lang="en-US"/>
          </a:p>
        </p:txBody>
      </p:sp>
    </p:spTree>
    <p:extLst>
      <p:ext uri="{BB962C8B-B14F-4D97-AF65-F5344CB8AC3E}">
        <p14:creationId xmlns:p14="http://schemas.microsoft.com/office/powerpoint/2010/main" val="1233540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E4C66C-9743-D659-7ECE-44A94CB171A8}"/>
              </a:ext>
            </a:extLst>
          </p:cNvPr>
          <p:cNvSpPr txBox="1"/>
          <p:nvPr/>
        </p:nvSpPr>
        <p:spPr>
          <a:xfrm>
            <a:off x="2787804" y="2721114"/>
            <a:ext cx="6314549" cy="707886"/>
          </a:xfrm>
          <a:prstGeom prst="rect">
            <a:avLst/>
          </a:prstGeom>
          <a:noFill/>
        </p:spPr>
        <p:txBody>
          <a:bodyPr wrap="none" rtlCol="0">
            <a:spAutoFit/>
          </a:bodyPr>
          <a:lstStyle/>
          <a:p>
            <a:r>
              <a:rPr lang="en-US" sz="4000" b="1" dirty="0"/>
              <a:t>AI key terms and concepts</a:t>
            </a:r>
          </a:p>
        </p:txBody>
      </p:sp>
    </p:spTree>
    <p:extLst>
      <p:ext uri="{BB962C8B-B14F-4D97-AF65-F5344CB8AC3E}">
        <p14:creationId xmlns:p14="http://schemas.microsoft.com/office/powerpoint/2010/main" val="3274955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4710EF-5C12-F4D8-DB8B-37076FAAA20F}"/>
              </a:ext>
            </a:extLst>
          </p:cNvPr>
          <p:cNvSpPr txBox="1"/>
          <p:nvPr/>
        </p:nvSpPr>
        <p:spPr>
          <a:xfrm>
            <a:off x="4678774" y="78059"/>
            <a:ext cx="1806072" cy="707886"/>
          </a:xfrm>
          <a:prstGeom prst="rect">
            <a:avLst/>
          </a:prstGeom>
          <a:noFill/>
        </p:spPr>
        <p:txBody>
          <a:bodyPr wrap="none" rtlCol="0">
            <a:spAutoFit/>
          </a:bodyPr>
          <a:lstStyle/>
          <a:p>
            <a:r>
              <a:rPr lang="en-US" sz="4000" b="1" dirty="0"/>
              <a:t>Tokens</a:t>
            </a:r>
          </a:p>
        </p:txBody>
      </p:sp>
      <p:sp>
        <p:nvSpPr>
          <p:cNvPr id="4" name="TextBox 3">
            <a:extLst>
              <a:ext uri="{FF2B5EF4-FFF2-40B4-BE49-F238E27FC236}">
                <a16:creationId xmlns:a16="http://schemas.microsoft.com/office/drawing/2014/main" id="{47CA9A95-EF86-F1FF-F636-71D58C8FBC8A}"/>
              </a:ext>
            </a:extLst>
          </p:cNvPr>
          <p:cNvSpPr txBox="1"/>
          <p:nvPr/>
        </p:nvSpPr>
        <p:spPr>
          <a:xfrm>
            <a:off x="0" y="663486"/>
            <a:ext cx="12192000" cy="5355312"/>
          </a:xfrm>
          <a:prstGeom prst="rect">
            <a:avLst/>
          </a:prstGeom>
          <a:noFill/>
        </p:spPr>
        <p:txBody>
          <a:bodyPr wrap="square">
            <a:spAutoFit/>
          </a:bodyPr>
          <a:lstStyle/>
          <a:p>
            <a:pPr>
              <a:buNone/>
            </a:pPr>
            <a:r>
              <a:rPr lang="en-CA" b="1" dirty="0"/>
              <a:t>Step1: What is a Token?</a:t>
            </a:r>
            <a:endParaRPr lang="en-CA" dirty="0"/>
          </a:p>
          <a:p>
            <a:pPr>
              <a:buNone/>
            </a:pPr>
            <a:r>
              <a:rPr lang="en-CA" dirty="0"/>
              <a:t>LLMs do not read your text word by word. Instead, your text is first broken into small chunks called </a:t>
            </a:r>
            <a:r>
              <a:rPr lang="en-CA" b="1" dirty="0"/>
              <a:t>tokens</a:t>
            </a:r>
            <a:r>
              <a:rPr lang="en-CA" dirty="0"/>
              <a:t> before the model processes it. A token can be a whole word, part of a word, a punctuation mark, or even a space. For example, "cat" is 1 token, but "unbelievable" becomes 3 tokens — un + </a:t>
            </a:r>
            <a:r>
              <a:rPr lang="en-CA" dirty="0" err="1"/>
              <a:t>believ</a:t>
            </a:r>
            <a:r>
              <a:rPr lang="en-CA" dirty="0"/>
              <a:t> + able. A rough rule of thumb is that 1 token ≈ 0.75 words in English.</a:t>
            </a:r>
          </a:p>
          <a:p>
            <a:pPr>
              <a:buNone/>
            </a:pPr>
            <a:r>
              <a:rPr lang="en-CA" b="1" dirty="0"/>
              <a:t>How is Text Broken into Tokens?</a:t>
            </a:r>
            <a:endParaRPr lang="en-CA" dirty="0"/>
          </a:p>
          <a:p>
            <a:pPr>
              <a:buNone/>
            </a:pPr>
            <a:r>
              <a:rPr lang="en-CA" dirty="0"/>
              <a:t>Before a model is ever used, it is trained on a massive amount of text. During that training, it builds a </a:t>
            </a:r>
            <a:r>
              <a:rPr lang="en-CA" b="1" dirty="0"/>
              <a:t>vocabulary</a:t>
            </a:r>
            <a:r>
              <a:rPr lang="en-CA" dirty="0"/>
              <a:t> — a fixed lookup table of common chunks. When you send a message, your text is matched against this vocabulary from left to right. If a whole word exists in the vocabulary, it becomes 1 token. If it does not, it gets split into smaller pieces that do exist. This is why common words cost fewer tokens, and rare, long, or made-up words cost more</a:t>
            </a:r>
          </a:p>
          <a:p>
            <a:pPr>
              <a:buNone/>
            </a:pPr>
            <a:r>
              <a:rPr lang="en-CA" b="1" dirty="0"/>
              <a:t>Why Not Split into Single Letters? — The Longest Match Rule</a:t>
            </a:r>
            <a:endParaRPr lang="en-CA" dirty="0"/>
          </a:p>
          <a:p>
            <a:pPr>
              <a:buNone/>
            </a:pPr>
            <a:r>
              <a:rPr lang="en-CA" dirty="0"/>
              <a:t>The vocabulary is built by scanning huge amounts of text and asking: which combinations appear together so frequently that they deserve their own chunk? Frequent pairs get merged into a single token — for example, "PT" appears often enough in words like "option" and "opted" to earn its own slot. Longer matches are preferred because they carry more meaning — "playing" as one token tells the model more than "p" + "l" + "a" + "y" + "</a:t>
            </a:r>
            <a:r>
              <a:rPr lang="en-CA" dirty="0" err="1"/>
              <a:t>i</a:t>
            </a:r>
            <a:r>
              <a:rPr lang="en-CA" dirty="0"/>
              <a:t>" + "n" + "g" as seven separate pieces. Just like how reading the word "running" whole is faster and more meaningful than sounding out each letter individually. So the tokenizer always picks the </a:t>
            </a:r>
            <a:r>
              <a:rPr lang="en-CA" b="1" dirty="0"/>
              <a:t>longest possible match</a:t>
            </a:r>
            <a:r>
              <a:rPr lang="en-CA" dirty="0"/>
              <a:t> first, and only falls back to shorter pieces if nothing longer exists. Think of it like abbreviations — we write "don't" instead of "do not" because it is common enough to deserve a shortcut.</a:t>
            </a:r>
          </a:p>
          <a:p>
            <a:pPr>
              <a:buNone/>
            </a:pPr>
            <a:endParaRPr lang="en-CA" dirty="0"/>
          </a:p>
        </p:txBody>
      </p:sp>
    </p:spTree>
    <p:extLst>
      <p:ext uri="{BB962C8B-B14F-4D97-AF65-F5344CB8AC3E}">
        <p14:creationId xmlns:p14="http://schemas.microsoft.com/office/powerpoint/2010/main" val="308252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3BC13E-C2FA-EE10-B1A8-F10C968D9E32}"/>
              </a:ext>
            </a:extLst>
          </p:cNvPr>
          <p:cNvSpPr txBox="1"/>
          <p:nvPr/>
        </p:nvSpPr>
        <p:spPr>
          <a:xfrm>
            <a:off x="0" y="0"/>
            <a:ext cx="12192000" cy="2585323"/>
          </a:xfrm>
          <a:prstGeom prst="rect">
            <a:avLst/>
          </a:prstGeom>
          <a:noFill/>
        </p:spPr>
        <p:txBody>
          <a:bodyPr wrap="square">
            <a:spAutoFit/>
          </a:bodyPr>
          <a:lstStyle/>
          <a:p>
            <a:pPr>
              <a:buNone/>
            </a:pPr>
            <a:r>
              <a:rPr lang="en-CA" b="1" dirty="0"/>
              <a:t>Step 2: What is a Context Window?</a:t>
            </a:r>
            <a:endParaRPr lang="en-CA" dirty="0"/>
          </a:p>
          <a:p>
            <a:pPr>
              <a:buNone/>
            </a:pPr>
            <a:r>
              <a:rPr lang="en-CA" dirty="0"/>
              <a:t>Every conversation you have with an LLM has a limit — the model can only "see" a certain amount of text at one time. That limit is measured in tokens, and it is called the </a:t>
            </a:r>
            <a:r>
              <a:rPr lang="en-CA" b="1" dirty="0"/>
              <a:t>context window</a:t>
            </a:r>
            <a:r>
              <a:rPr lang="en-CA" dirty="0"/>
              <a:t>.</a:t>
            </a:r>
          </a:p>
          <a:p>
            <a:pPr>
              <a:buNone/>
            </a:pPr>
            <a:r>
              <a:rPr lang="en-CA" dirty="0"/>
              <a:t>Everything counts toward this limit:</a:t>
            </a:r>
          </a:p>
          <a:p>
            <a:pPr>
              <a:buFont typeface="Arial" panose="020B0604020202020204" pitchFamily="34" charset="0"/>
              <a:buChar char="•"/>
            </a:pPr>
            <a:r>
              <a:rPr lang="en-CA" dirty="0"/>
              <a:t>Your instructions to the model</a:t>
            </a:r>
          </a:p>
          <a:p>
            <a:pPr>
              <a:buFont typeface="Arial" panose="020B0604020202020204" pitchFamily="34" charset="0"/>
              <a:buChar char="•"/>
            </a:pPr>
            <a:r>
              <a:rPr lang="en-CA" dirty="0"/>
              <a:t>The entire conversation history</a:t>
            </a:r>
          </a:p>
          <a:p>
            <a:pPr>
              <a:buFont typeface="Arial" panose="020B0604020202020204" pitchFamily="34" charset="0"/>
              <a:buChar char="•"/>
            </a:pPr>
            <a:r>
              <a:rPr lang="en-CA" dirty="0"/>
              <a:t>The model's own responses</a:t>
            </a:r>
          </a:p>
          <a:p>
            <a:pPr>
              <a:buNone/>
            </a:pPr>
            <a:r>
              <a:rPr lang="en-CA" dirty="0"/>
              <a:t>Once the limit is hit, the model cannot see what came before. It is not that it "forgets" — it literally never had access to that earlier text in the first place.</a:t>
            </a:r>
          </a:p>
        </p:txBody>
      </p:sp>
      <p:sp>
        <p:nvSpPr>
          <p:cNvPr id="6" name="TextBox 5">
            <a:extLst>
              <a:ext uri="{FF2B5EF4-FFF2-40B4-BE49-F238E27FC236}">
                <a16:creationId xmlns:a16="http://schemas.microsoft.com/office/drawing/2014/main" id="{6503AC09-8C98-5F0F-A34C-F795D521371E}"/>
              </a:ext>
            </a:extLst>
          </p:cNvPr>
          <p:cNvSpPr txBox="1"/>
          <p:nvPr/>
        </p:nvSpPr>
        <p:spPr>
          <a:xfrm>
            <a:off x="0" y="2703017"/>
            <a:ext cx="12192000" cy="3139321"/>
          </a:xfrm>
          <a:prstGeom prst="rect">
            <a:avLst/>
          </a:prstGeom>
          <a:noFill/>
        </p:spPr>
        <p:txBody>
          <a:bodyPr wrap="square">
            <a:spAutoFit/>
          </a:bodyPr>
          <a:lstStyle/>
          <a:p>
            <a:pPr>
              <a:buNone/>
            </a:pPr>
            <a:r>
              <a:rPr lang="en-CA" b="1" dirty="0"/>
              <a:t>Step 3: Why Does the Context Window Fill Up Faster Than You Think?</a:t>
            </a:r>
            <a:endParaRPr lang="en-CA" dirty="0"/>
          </a:p>
          <a:p>
            <a:pPr>
              <a:buNone/>
            </a:pPr>
            <a:r>
              <a:rPr lang="en-CA" dirty="0"/>
              <a:t>Here is something that surprises most people. Every time you send a new message, the entire conversation — from the very beginning — is resent to the model. The model does not "remember" previous messages on its own. It gets the full history handed to it fresh each time.</a:t>
            </a:r>
          </a:p>
          <a:p>
            <a:pPr>
              <a:buNone/>
            </a:pPr>
            <a:r>
              <a:rPr lang="en-CA" dirty="0"/>
              <a:t>So imagine a 10-message conversation:</a:t>
            </a:r>
          </a:p>
          <a:p>
            <a:pPr>
              <a:buFont typeface="Arial" panose="020B0604020202020204" pitchFamily="34" charset="0"/>
              <a:buChar char="•"/>
            </a:pPr>
            <a:r>
              <a:rPr lang="en-CA" dirty="0"/>
              <a:t>Message 1 sends 1 message worth of tokens</a:t>
            </a:r>
          </a:p>
          <a:p>
            <a:pPr>
              <a:buFont typeface="Arial" panose="020B0604020202020204" pitchFamily="34" charset="0"/>
              <a:buChar char="•"/>
            </a:pPr>
            <a:r>
              <a:rPr lang="en-CA" dirty="0"/>
              <a:t>Message 2 sends 2 messages worth of tokens</a:t>
            </a:r>
          </a:p>
          <a:p>
            <a:pPr>
              <a:buFont typeface="Arial" panose="020B0604020202020204" pitchFamily="34" charset="0"/>
              <a:buChar char="•"/>
            </a:pPr>
            <a:r>
              <a:rPr lang="en-CA" dirty="0"/>
              <a:t>Message 3 sends 3 messages worth of tokens</a:t>
            </a:r>
          </a:p>
          <a:p>
            <a:pPr>
              <a:buFont typeface="Arial" panose="020B0604020202020204" pitchFamily="34" charset="0"/>
              <a:buChar char="•"/>
            </a:pPr>
            <a:r>
              <a:rPr lang="en-CA" dirty="0"/>
              <a:t>... and so on</a:t>
            </a:r>
          </a:p>
          <a:p>
            <a:pPr>
              <a:buNone/>
            </a:pPr>
            <a:r>
              <a:rPr lang="en-CA" dirty="0"/>
              <a:t>By message 10, you are sending all 10 messages every single time. The context window fills up much faster than it seems from the outside.</a:t>
            </a:r>
          </a:p>
        </p:txBody>
      </p:sp>
    </p:spTree>
    <p:extLst>
      <p:ext uri="{BB962C8B-B14F-4D97-AF65-F5344CB8AC3E}">
        <p14:creationId xmlns:p14="http://schemas.microsoft.com/office/powerpoint/2010/main" val="2380874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DCA0F4-AF34-EC9F-E19E-FCE013A5B5DF}"/>
              </a:ext>
            </a:extLst>
          </p:cNvPr>
          <p:cNvSpPr txBox="1"/>
          <p:nvPr/>
        </p:nvSpPr>
        <p:spPr>
          <a:xfrm>
            <a:off x="0" y="0"/>
            <a:ext cx="12113941" cy="3693319"/>
          </a:xfrm>
          <a:prstGeom prst="rect">
            <a:avLst/>
          </a:prstGeom>
          <a:noFill/>
        </p:spPr>
        <p:txBody>
          <a:bodyPr wrap="square">
            <a:spAutoFit/>
          </a:bodyPr>
          <a:lstStyle/>
          <a:p>
            <a:r>
              <a:rPr lang="en-CA" b="1" dirty="0"/>
              <a:t>Step 4: Why Does This Matter — Cost and Limits</a:t>
            </a:r>
            <a:endParaRPr lang="en-CA" dirty="0"/>
          </a:p>
          <a:p>
            <a:r>
              <a:rPr lang="en-CA" dirty="0"/>
              <a:t>Now that you know tokens are the unit the model reads and writes in, and that the full history is resent every time — this directly affects two things: </a:t>
            </a:r>
            <a:r>
              <a:rPr lang="en-CA" b="1" dirty="0"/>
              <a:t>cost</a:t>
            </a:r>
            <a:r>
              <a:rPr lang="en-CA" dirty="0"/>
              <a:t> and </a:t>
            </a:r>
            <a:r>
              <a:rPr lang="en-CA" b="1" dirty="0"/>
              <a:t>limits</a:t>
            </a:r>
            <a:r>
              <a:rPr lang="en-CA" dirty="0"/>
              <a:t>.</a:t>
            </a:r>
          </a:p>
          <a:p>
            <a:r>
              <a:rPr lang="en-CA" dirty="0"/>
              <a:t>LLM APIs charge per token — separately for input tokens (what you send in) and output tokens (what the model writes back). Output is typically 3–5× more expensive than input because generating text is harder for the model than just reading it. Every model also has a maximum context window — once you hit it, old messages get silently dropped or the API throws an error, which is why very long conversations can feel like the model forgot something you said early on.</a:t>
            </a:r>
          </a:p>
          <a:p>
            <a:r>
              <a:rPr lang="en-CA" dirty="0"/>
              <a:t>When a developer builds an app — like a customer support chatbot — that app is sending thousands of messages to the LLM every day on behalf of its users. Because they are using it at scale, the company charges them based on exactly how much they consumed, and tokens are the unit of measurement for that. Think of it like a utility bill — you do not pay a flat fee for electricity, you pay based on exactly how many units you consumed that month. Regular users on </a:t>
            </a:r>
            <a:r>
              <a:rPr lang="en-CA" dirty="0" err="1"/>
              <a:t>Claude.ai</a:t>
            </a:r>
            <a:r>
              <a:rPr lang="en-CA" dirty="0"/>
              <a:t> or ChatGPT pay a flat monthly subscription instead, with token costs baked in behind the scenes.</a:t>
            </a:r>
          </a:p>
          <a:p>
            <a:pPr>
              <a:buNone/>
            </a:pPr>
            <a:endParaRPr lang="en-US" dirty="0"/>
          </a:p>
        </p:txBody>
      </p:sp>
      <p:sp>
        <p:nvSpPr>
          <p:cNvPr id="6" name="TextBox 5">
            <a:extLst>
              <a:ext uri="{FF2B5EF4-FFF2-40B4-BE49-F238E27FC236}">
                <a16:creationId xmlns:a16="http://schemas.microsoft.com/office/drawing/2014/main" id="{3D7657BB-56BC-E93C-12ED-144BA5B04739}"/>
              </a:ext>
            </a:extLst>
          </p:cNvPr>
          <p:cNvSpPr txBox="1"/>
          <p:nvPr/>
        </p:nvSpPr>
        <p:spPr>
          <a:xfrm>
            <a:off x="0" y="3545616"/>
            <a:ext cx="12192000" cy="3139321"/>
          </a:xfrm>
          <a:prstGeom prst="rect">
            <a:avLst/>
          </a:prstGeom>
          <a:noFill/>
        </p:spPr>
        <p:txBody>
          <a:bodyPr wrap="square">
            <a:spAutoFit/>
          </a:bodyPr>
          <a:lstStyle/>
          <a:p>
            <a:pPr>
              <a:buNone/>
            </a:pPr>
            <a:r>
              <a:rPr lang="en-CA" b="1" dirty="0"/>
              <a:t>Step 5: Practical Implications — What Does This Mean in Real Life?</a:t>
            </a:r>
            <a:endParaRPr lang="en-CA" dirty="0"/>
          </a:p>
          <a:p>
            <a:pPr>
              <a:buNone/>
            </a:pPr>
            <a:r>
              <a:rPr lang="en-CA" dirty="0"/>
              <a:t>Now that you understand tokens, context windows, and cost — here is how all of that actually shows up in the real world when people build or use LLM-powered tools.</a:t>
            </a:r>
          </a:p>
          <a:p>
            <a:pPr>
              <a:buNone/>
            </a:pPr>
            <a:r>
              <a:rPr lang="en-CA" dirty="0"/>
              <a:t>If you have a very long document — say a 100-page report — you cannot just paste the whole thing into a model and ask questions. It would exceed the context window. So developers build systems that chop the document into smaller chunks, search for the most relevant chunk, and only send that piece to the model. This is called </a:t>
            </a:r>
            <a:r>
              <a:rPr lang="en-CA" b="1" dirty="0"/>
              <a:t>RAG — Retrieval Augmented Generation</a:t>
            </a:r>
            <a:r>
              <a:rPr lang="en-CA" dirty="0"/>
              <a:t>.</a:t>
            </a:r>
          </a:p>
          <a:p>
            <a:pPr>
              <a:buNone/>
            </a:pPr>
            <a:r>
              <a:rPr lang="en-CA" dirty="0"/>
              <a:t>Another implication is prompt design. Every word in your instructions to the model costs tokens. A bloated, repetitive system prompt eats into your usable context and inflates your bill on every single API call.</a:t>
            </a:r>
          </a:p>
          <a:p>
            <a:pPr>
              <a:buNone/>
            </a:pPr>
            <a:r>
              <a:rPr lang="en-CA" dirty="0"/>
              <a:t>Code and structured data like JSON also tokenize inefficiently — repeated keys, brackets, and formatting characters all add up. So the same information written as clean prose can cost fewer tokens than the equivalent JSON.</a:t>
            </a:r>
          </a:p>
        </p:txBody>
      </p:sp>
    </p:spTree>
    <p:extLst>
      <p:ext uri="{BB962C8B-B14F-4D97-AF65-F5344CB8AC3E}">
        <p14:creationId xmlns:p14="http://schemas.microsoft.com/office/powerpoint/2010/main" val="2509336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95D82CD-0E5B-ADDB-E8FB-5BC82B7B66F8}"/>
              </a:ext>
            </a:extLst>
          </p:cNvPr>
          <p:cNvSpPr txBox="1"/>
          <p:nvPr/>
        </p:nvSpPr>
        <p:spPr>
          <a:xfrm>
            <a:off x="0" y="0"/>
            <a:ext cx="12192000" cy="3416320"/>
          </a:xfrm>
          <a:prstGeom prst="rect">
            <a:avLst/>
          </a:prstGeom>
          <a:noFill/>
        </p:spPr>
        <p:txBody>
          <a:bodyPr wrap="square">
            <a:spAutoFit/>
          </a:bodyPr>
          <a:lstStyle/>
          <a:p>
            <a:pPr>
              <a:buNone/>
            </a:pPr>
            <a:r>
              <a:rPr lang="en-CA" b="1" dirty="0"/>
              <a:t>Step 6: How Do Different Models Compare?</a:t>
            </a:r>
            <a:endParaRPr lang="en-CA" dirty="0"/>
          </a:p>
          <a:p>
            <a:pPr>
              <a:buNone/>
            </a:pPr>
            <a:r>
              <a:rPr lang="en-CA" dirty="0"/>
              <a:t>Now that you understand what a context window is and why it matters — it is worth knowing that different models have very different limits. This is often one of the first things developers look at when choosing which model to use for a task.</a:t>
            </a:r>
          </a:p>
          <a:p>
            <a:pPr>
              <a:buNone/>
            </a:pPr>
            <a:r>
              <a:rPr lang="en-CA" dirty="0"/>
              <a:t>Here are some real numbers:</a:t>
            </a:r>
          </a:p>
          <a:p>
            <a:pPr>
              <a:buFont typeface="Arial" panose="020B0604020202020204" pitchFamily="34" charset="0"/>
              <a:buChar char="•"/>
            </a:pPr>
            <a:r>
              <a:rPr lang="en-CA" b="1" dirty="0"/>
              <a:t>GPT-4o</a:t>
            </a:r>
            <a:r>
              <a:rPr lang="en-CA" dirty="0"/>
              <a:t> — 128,000 tokens</a:t>
            </a:r>
          </a:p>
          <a:p>
            <a:pPr>
              <a:buFont typeface="Arial" panose="020B0604020202020204" pitchFamily="34" charset="0"/>
              <a:buChar char="•"/>
            </a:pPr>
            <a:r>
              <a:rPr lang="en-CA" b="1" dirty="0"/>
              <a:t>Claude Sonnet</a:t>
            </a:r>
            <a:r>
              <a:rPr lang="en-CA" dirty="0"/>
              <a:t> — 200,000 tokens</a:t>
            </a:r>
          </a:p>
          <a:p>
            <a:pPr>
              <a:buFont typeface="Arial" panose="020B0604020202020204" pitchFamily="34" charset="0"/>
              <a:buChar char="•"/>
            </a:pPr>
            <a:r>
              <a:rPr lang="en-CA" b="1" dirty="0"/>
              <a:t>Gemini 1.5 Pro</a:t>
            </a:r>
            <a:r>
              <a:rPr lang="en-CA" dirty="0"/>
              <a:t> — 1,000,000 tokens</a:t>
            </a:r>
          </a:p>
          <a:p>
            <a:pPr>
              <a:buNone/>
            </a:pPr>
            <a:r>
              <a:rPr lang="en-CA" dirty="0"/>
              <a:t>To put that in perspective — 200,000 tokens is roughly 150,000 words, which is about the length of two full novels. So Claude could theoretically hold that entire conversation in one go.</a:t>
            </a:r>
          </a:p>
          <a:p>
            <a:pPr>
              <a:buNone/>
            </a:pPr>
            <a:r>
              <a:rPr lang="en-CA" dirty="0"/>
              <a:t>But a larger context window does not automatically mean better. A bigger window costs more per call, and models can sometimes lose focus on details buried deep inside a very long context. This is called the </a:t>
            </a:r>
            <a:r>
              <a:rPr lang="en-CA" b="1" dirty="0"/>
              <a:t>lost in the middle</a:t>
            </a:r>
            <a:r>
              <a:rPr lang="en-CA" dirty="0"/>
              <a:t> problem — where the model pays more attention to the beginning and end of the context, and less to what is in the middle.</a:t>
            </a:r>
          </a:p>
        </p:txBody>
      </p:sp>
      <p:sp>
        <p:nvSpPr>
          <p:cNvPr id="9" name="TextBox 8">
            <a:extLst>
              <a:ext uri="{FF2B5EF4-FFF2-40B4-BE49-F238E27FC236}">
                <a16:creationId xmlns:a16="http://schemas.microsoft.com/office/drawing/2014/main" id="{99755CDA-DF4E-F446-6F46-3BABB3DCDA31}"/>
              </a:ext>
            </a:extLst>
          </p:cNvPr>
          <p:cNvSpPr txBox="1"/>
          <p:nvPr/>
        </p:nvSpPr>
        <p:spPr>
          <a:xfrm>
            <a:off x="0" y="3441681"/>
            <a:ext cx="12192000" cy="3416320"/>
          </a:xfrm>
          <a:prstGeom prst="rect">
            <a:avLst/>
          </a:prstGeom>
          <a:noFill/>
        </p:spPr>
        <p:txBody>
          <a:bodyPr wrap="square">
            <a:spAutoFit/>
          </a:bodyPr>
          <a:lstStyle/>
          <a:p>
            <a:pPr>
              <a:buNone/>
            </a:pPr>
            <a:r>
              <a:rPr lang="en-CA" b="1" dirty="0"/>
              <a:t>Step 7: Putting It All Together</a:t>
            </a:r>
            <a:endParaRPr lang="en-CA" dirty="0"/>
          </a:p>
          <a:p>
            <a:pPr>
              <a:buNone/>
            </a:pPr>
            <a:r>
              <a:rPr lang="en-CA" dirty="0"/>
              <a:t>Let us now connect everything we have covered from the very beginning into one clear picture.</a:t>
            </a:r>
          </a:p>
          <a:p>
            <a:pPr>
              <a:buNone/>
            </a:pPr>
            <a:r>
              <a:rPr lang="en-CA" dirty="0"/>
              <a:t>When you type a message to an LLM, your text is first broken into </a:t>
            </a:r>
            <a:r>
              <a:rPr lang="en-CA" b="1" dirty="0"/>
              <a:t>tokens</a:t>
            </a:r>
            <a:r>
              <a:rPr lang="en-CA" dirty="0"/>
              <a:t> — small chunks matched against a vocabulary built during training. The tokenizer always picks the longest possible match first, because longer chunks carry more meaning. Those tokens are then fed into the model.</a:t>
            </a:r>
          </a:p>
          <a:p>
            <a:pPr>
              <a:buNone/>
            </a:pPr>
            <a:r>
              <a:rPr lang="en-CA" dirty="0"/>
              <a:t>Every token in the conversation — your instructions, the full history, and the model's replies — counts toward the </a:t>
            </a:r>
            <a:r>
              <a:rPr lang="en-CA" b="1" dirty="0"/>
              <a:t>context window</a:t>
            </a:r>
            <a:r>
              <a:rPr lang="en-CA" dirty="0"/>
              <a:t>. And because the full history is resent every single time you send a message, the window fills up faster than it seems. Once it hits the limit, earlier content falls out.</a:t>
            </a:r>
          </a:p>
          <a:p>
            <a:pPr>
              <a:buNone/>
            </a:pPr>
            <a:r>
              <a:rPr lang="en-CA" dirty="0"/>
              <a:t>All of this has a direct </a:t>
            </a:r>
            <a:r>
              <a:rPr lang="en-CA" b="1" dirty="0"/>
              <a:t>cost</a:t>
            </a:r>
            <a:r>
              <a:rPr lang="en-CA" dirty="0"/>
              <a:t>. Developers pay per token — input and output separately — like a utility bill. Output costs more because generating is harder than reading. Regular users see this hidden inside a flat monthly subscription instead.</a:t>
            </a:r>
          </a:p>
          <a:p>
            <a:pPr>
              <a:buNone/>
            </a:pPr>
            <a:r>
              <a:rPr lang="en-CA" dirty="0"/>
              <a:t>And finally, the size of the context window </a:t>
            </a:r>
            <a:r>
              <a:rPr lang="en-CA" b="1" dirty="0"/>
              <a:t>varies by model</a:t>
            </a:r>
            <a:r>
              <a:rPr lang="en-CA" dirty="0"/>
              <a:t> — bigger windows allow longer conversations and larger documents, but cost more and can suffer from the lost in the middle problem where details buried deep get less attention.</a:t>
            </a:r>
          </a:p>
        </p:txBody>
      </p:sp>
    </p:spTree>
    <p:extLst>
      <p:ext uri="{BB962C8B-B14F-4D97-AF65-F5344CB8AC3E}">
        <p14:creationId xmlns:p14="http://schemas.microsoft.com/office/powerpoint/2010/main" val="3296901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3564D8-541D-B501-DFCF-E09BCB0AD7BB}"/>
              </a:ext>
            </a:extLst>
          </p:cNvPr>
          <p:cNvSpPr txBox="1"/>
          <p:nvPr/>
        </p:nvSpPr>
        <p:spPr>
          <a:xfrm>
            <a:off x="3345366" y="2743199"/>
            <a:ext cx="5681492" cy="830997"/>
          </a:xfrm>
          <a:prstGeom prst="rect">
            <a:avLst/>
          </a:prstGeom>
          <a:noFill/>
        </p:spPr>
        <p:txBody>
          <a:bodyPr wrap="none" rtlCol="0">
            <a:spAutoFit/>
          </a:bodyPr>
          <a:lstStyle/>
          <a:p>
            <a:r>
              <a:rPr lang="en-US" sz="4800" b="1" dirty="0" err="1"/>
              <a:t>MapleVitals</a:t>
            </a:r>
            <a:r>
              <a:rPr lang="en-US" sz="4800" b="1" dirty="0"/>
              <a:t> Explain</a:t>
            </a:r>
          </a:p>
        </p:txBody>
      </p:sp>
    </p:spTree>
    <p:extLst>
      <p:ext uri="{BB962C8B-B14F-4D97-AF65-F5344CB8AC3E}">
        <p14:creationId xmlns:p14="http://schemas.microsoft.com/office/powerpoint/2010/main" val="2630712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4292D1-3EFB-8163-A17E-A0AD14B72152}"/>
              </a:ext>
            </a:extLst>
          </p:cNvPr>
          <p:cNvSpPr txBox="1"/>
          <p:nvPr/>
        </p:nvSpPr>
        <p:spPr>
          <a:xfrm>
            <a:off x="78060" y="776749"/>
            <a:ext cx="11574966" cy="5632311"/>
          </a:xfrm>
          <a:prstGeom prst="rect">
            <a:avLst/>
          </a:prstGeom>
          <a:noFill/>
        </p:spPr>
        <p:txBody>
          <a:bodyPr wrap="square">
            <a:spAutoFit/>
          </a:bodyPr>
          <a:lstStyle/>
          <a:p>
            <a:r>
              <a:rPr lang="en-US" dirty="0">
                <a:latin typeface="Calibri" panose="020F0502020204030204" pitchFamily="34" charset="0"/>
                <a:cs typeface="Calibri" panose="020F0502020204030204" pitchFamily="34" charset="0"/>
              </a:rPr>
              <a:t>From "I typed it out" to "I own it"</a:t>
            </a:r>
          </a:p>
          <a:p>
            <a:r>
              <a:rPr lang="en-US" dirty="0">
                <a:latin typeface="Calibri" panose="020F0502020204030204" pitchFamily="34" charset="0"/>
                <a:cs typeface="Calibri" panose="020F0502020204030204" pitchFamily="34" charset="0"/>
              </a:rPr>
              <a:t>Why: transcribing trains recognition. A job needs generation + adaptation.</a:t>
            </a:r>
          </a:p>
          <a:p>
            <a:endParaRPr lang="en-US" dirty="0">
              <a:latin typeface="Calibri" panose="020F0502020204030204" pitchFamily="34" charset="0"/>
              <a:cs typeface="Calibri" panose="020F0502020204030204" pitchFamily="34" charset="0"/>
            </a:endParaRPr>
          </a:p>
          <a:p>
            <a:pPr marL="342900" indent="-342900">
              <a:buAutoNum type="arabicPeriod"/>
            </a:pPr>
            <a:r>
              <a:rPr lang="en-US" dirty="0">
                <a:solidFill>
                  <a:schemeClr val="tx2">
                    <a:lumMod val="75000"/>
                    <a:lumOff val="25000"/>
                  </a:schemeClr>
                </a:solidFill>
                <a:latin typeface="Calibri" panose="020F0502020204030204" pitchFamily="34" charset="0"/>
                <a:cs typeface="Calibri" panose="020F0502020204030204" pitchFamily="34" charset="0"/>
              </a:rPr>
              <a:t>EXPLAIN IT BLIND: File closed, narrate question → answer in plain English.</a:t>
            </a:r>
          </a:p>
          <a:p>
            <a:r>
              <a:rPr lang="en-US" dirty="0">
                <a:solidFill>
                  <a:schemeClr val="tx2">
                    <a:lumMod val="75000"/>
                    <a:lumOff val="25000"/>
                  </a:schemeClr>
                </a:solidFill>
                <a:latin typeface="Calibri" panose="020F0502020204030204" pitchFamily="34" charset="0"/>
                <a:cs typeface="Calibri" panose="020F0502020204030204" pitchFamily="34" charset="0"/>
              </a:rPr>
              <a:t>Your vague spots = your study list.</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r>
              <a:rPr lang="en-US" dirty="0">
                <a:solidFill>
                  <a:schemeClr val="accent2">
                    <a:lumMod val="75000"/>
                  </a:schemeClr>
                </a:solidFill>
                <a:latin typeface="Calibri" panose="020F0502020204030204" pitchFamily="34" charset="0"/>
                <a:cs typeface="Calibri" panose="020F0502020204030204" pitchFamily="34" charset="0"/>
              </a:rPr>
              <a:t>2. TRACE BY HAND: Write what the messages list holds after each loop step: question → tool call + code → result → final answer.</a:t>
            </a:r>
            <a:br>
              <a:rPr lang="en-US" dirty="0">
                <a:latin typeface="Calibri" panose="020F0502020204030204" pitchFamily="34" charset="0"/>
                <a:cs typeface="Calibri" panose="020F0502020204030204" pitchFamily="34" charset="0"/>
              </a:rPr>
            </a:br>
            <a:endParaRPr lang="en-US" dirty="0">
              <a:solidFill>
                <a:schemeClr val="accent3">
                  <a:lumMod val="75000"/>
                </a:schemeClr>
              </a:solidFill>
              <a:latin typeface="Calibri" panose="020F0502020204030204" pitchFamily="34" charset="0"/>
              <a:cs typeface="Calibri" panose="020F0502020204030204" pitchFamily="34" charset="0"/>
            </a:endParaRPr>
          </a:p>
          <a:p>
            <a:r>
              <a:rPr lang="en-US" dirty="0">
                <a:solidFill>
                  <a:schemeClr val="accent3">
                    <a:lumMod val="75000"/>
                  </a:schemeClr>
                </a:solidFill>
                <a:latin typeface="Calibri" panose="020F0502020204030204" pitchFamily="34" charset="0"/>
                <a:cs typeface="Calibri" panose="020F0502020204030204" pitchFamily="34" charset="0"/>
              </a:rPr>
              <a:t>3. BREAK &amp; PREDICT: Change one thing, predict the outcome, run, reconcile. (</a:t>
            </a:r>
            <a:r>
              <a:rPr lang="en-US" dirty="0" err="1">
                <a:solidFill>
                  <a:schemeClr val="accent3">
                    <a:lumMod val="75000"/>
                  </a:schemeClr>
                </a:solidFill>
                <a:latin typeface="Calibri" panose="020F0502020204030204" pitchFamily="34" charset="0"/>
                <a:cs typeface="Calibri" panose="020F0502020204030204" pitchFamily="34" charset="0"/>
              </a:rPr>
              <a:t>max_turns</a:t>
            </a:r>
            <a:r>
              <a:rPr lang="en-US" dirty="0">
                <a:solidFill>
                  <a:schemeClr val="accent3">
                    <a:lumMod val="75000"/>
                  </a:schemeClr>
                </a:solidFill>
                <a:latin typeface="Calibri" panose="020F0502020204030204" pitchFamily="34" charset="0"/>
                <a:cs typeface="Calibri" panose="020F0502020204030204" pitchFamily="34" charset="0"/>
              </a:rPr>
              <a:t> = 1 · delete the column list · force an error)</a:t>
            </a:r>
            <a:br>
              <a:rPr lang="en-US" dirty="0">
                <a:latin typeface="Calibri" panose="020F0502020204030204" pitchFamily="34" charset="0"/>
                <a:cs typeface="Calibri" panose="020F0502020204030204" pitchFamily="34" charset="0"/>
              </a:rPr>
            </a:br>
            <a:endParaRPr lang="en-US" dirty="0">
              <a:solidFill>
                <a:schemeClr val="accent5">
                  <a:lumMod val="75000"/>
                </a:schemeClr>
              </a:solidFill>
              <a:latin typeface="Calibri" panose="020F0502020204030204" pitchFamily="34" charset="0"/>
              <a:cs typeface="Calibri" panose="020F0502020204030204" pitchFamily="34" charset="0"/>
            </a:endParaRPr>
          </a:p>
          <a:p>
            <a:r>
              <a:rPr lang="en-US" dirty="0">
                <a:solidFill>
                  <a:schemeClr val="accent5">
                    <a:lumMod val="75000"/>
                  </a:schemeClr>
                </a:solidFill>
                <a:latin typeface="Calibri" panose="020F0502020204030204" pitchFamily="34" charset="0"/>
                <a:cs typeface="Calibri" panose="020F0502020204030204" pitchFamily="34" charset="0"/>
              </a:rPr>
              <a:t>4. INTERROGATE DECISIONS: Ask "why this, not that?" of every line. (why return the error string? why range() not while True?)</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r>
              <a:rPr lang="en-US" dirty="0">
                <a:solidFill>
                  <a:schemeClr val="bg2">
                    <a:lumMod val="25000"/>
                  </a:schemeClr>
                </a:solidFill>
                <a:latin typeface="Calibri" panose="020F0502020204030204" pitchFamily="34" charset="0"/>
                <a:cs typeface="Calibri" panose="020F0502020204030204" pitchFamily="34" charset="0"/>
              </a:rPr>
              <a:t>5. REBUILD BLANK: Rewrite the agent loop from memory, then diff against the original. The differences are what you hadn't really learned.</a:t>
            </a:r>
            <a:br>
              <a:rPr lang="en-US" dirty="0">
                <a:latin typeface="Calibri" panose="020F0502020204030204" pitchFamily="34" charset="0"/>
                <a:cs typeface="Calibri" panose="020F0502020204030204" pitchFamily="34" charset="0"/>
              </a:rPr>
            </a:br>
            <a:endParaRPr lang="en-US" dirty="0">
              <a:solidFill>
                <a:srgbClr val="7030A0"/>
              </a:solidFill>
              <a:latin typeface="Calibri" panose="020F0502020204030204" pitchFamily="34" charset="0"/>
              <a:cs typeface="Calibri" panose="020F0502020204030204" pitchFamily="34" charset="0"/>
            </a:endParaRPr>
          </a:p>
          <a:p>
            <a:r>
              <a:rPr lang="en-US" dirty="0">
                <a:solidFill>
                  <a:srgbClr val="C00000"/>
                </a:solidFill>
                <a:latin typeface="Calibri" panose="020F0502020204030204" pitchFamily="34" charset="0"/>
                <a:cs typeface="Calibri" panose="020F0502020204030204" pitchFamily="34" charset="0"/>
              </a:rPr>
              <a:t>6. ADAPT IT: Add a 2nd tool, or a guardrail the walkthrough never showed you. Memorizing doesn't transfer — adapting does. → Go deepest on the agent loop + guardrails. That's your moat. Skim the pandas / </a:t>
            </a:r>
            <a:r>
              <a:rPr lang="en-US" dirty="0" err="1">
                <a:solidFill>
                  <a:srgbClr val="C00000"/>
                </a:solidFill>
                <a:latin typeface="Calibri" panose="020F0502020204030204" pitchFamily="34" charset="0"/>
                <a:cs typeface="Calibri" panose="020F0502020204030204" pitchFamily="34" charset="0"/>
              </a:rPr>
              <a:t>Streamlit</a:t>
            </a:r>
            <a:r>
              <a:rPr lang="en-US" dirty="0">
                <a:solidFill>
                  <a:srgbClr val="C00000"/>
                </a:solidFill>
                <a:latin typeface="Calibri" panose="020F0502020204030204" pitchFamily="34" charset="0"/>
                <a:cs typeface="Calibri" panose="020F0502020204030204" pitchFamily="34" charset="0"/>
              </a:rPr>
              <a:t> plumbing.</a:t>
            </a:r>
          </a:p>
        </p:txBody>
      </p:sp>
      <p:sp>
        <p:nvSpPr>
          <p:cNvPr id="6" name="TextBox 5">
            <a:extLst>
              <a:ext uri="{FF2B5EF4-FFF2-40B4-BE49-F238E27FC236}">
                <a16:creationId xmlns:a16="http://schemas.microsoft.com/office/drawing/2014/main" id="{2847C084-84B3-63C4-775D-12EDB80FFF60}"/>
              </a:ext>
            </a:extLst>
          </p:cNvPr>
          <p:cNvSpPr txBox="1"/>
          <p:nvPr/>
        </p:nvSpPr>
        <p:spPr>
          <a:xfrm>
            <a:off x="2946710" y="0"/>
            <a:ext cx="6094140"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UNDERSTANDING CODE IN DEPTH: How??</a:t>
            </a:r>
          </a:p>
        </p:txBody>
      </p:sp>
    </p:spTree>
    <p:extLst>
      <p:ext uri="{BB962C8B-B14F-4D97-AF65-F5344CB8AC3E}">
        <p14:creationId xmlns:p14="http://schemas.microsoft.com/office/powerpoint/2010/main" val="858155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CC1D389-E7BA-BC86-2933-FA9E7F264EB9}"/>
              </a:ext>
            </a:extLst>
          </p:cNvPr>
          <p:cNvSpPr txBox="1"/>
          <p:nvPr/>
        </p:nvSpPr>
        <p:spPr>
          <a:xfrm>
            <a:off x="22301" y="0"/>
            <a:ext cx="12099073" cy="2308324"/>
          </a:xfrm>
          <a:prstGeom prst="rect">
            <a:avLst/>
          </a:prstGeom>
          <a:solidFill>
            <a:schemeClr val="tx2">
              <a:lumMod val="10000"/>
              <a:lumOff val="90000"/>
            </a:schemeClr>
          </a:solidFill>
        </p:spPr>
        <p:txBody>
          <a:bodyPr wrap="square">
            <a:spAutoFit/>
          </a:bodyPr>
          <a:lstStyle/>
          <a:p>
            <a:pPr algn="l">
              <a:buNone/>
            </a:pPr>
            <a:r>
              <a:rPr lang="en-CA" b="1" i="0" dirty="0" err="1">
                <a:effectLst/>
                <a:latin typeface="-apple-system"/>
              </a:rPr>
              <a:t>MapleVitals</a:t>
            </a:r>
            <a:r>
              <a:rPr lang="en-CA" b="1" i="0" dirty="0">
                <a:effectLst/>
                <a:latin typeface="-apple-system"/>
              </a:rPr>
              <a:t> Agent — Part 1 &amp; 2 Summary</a:t>
            </a:r>
          </a:p>
          <a:p>
            <a:pPr>
              <a:buNone/>
            </a:pPr>
            <a:r>
              <a:rPr lang="en-CA" b="1" i="0" dirty="0">
                <a:effectLst/>
                <a:latin typeface="-apple-system"/>
              </a:rPr>
              <a:t>SETUP (lines 1–14)</a:t>
            </a:r>
            <a:endParaRPr lang="en-CA" b="0" i="0" dirty="0">
              <a:effectLst/>
              <a:latin typeface="-apple-system"/>
            </a:endParaRPr>
          </a:p>
          <a:p>
            <a:pPr algn="l">
              <a:buFont typeface="Arial" panose="020B0604020202020204" pitchFamily="34" charset="0"/>
              <a:buChar char="•"/>
            </a:pPr>
            <a:r>
              <a:rPr lang="en-CA" b="0" i="0" dirty="0">
                <a:effectLst/>
                <a:latin typeface="-apple-system"/>
              </a:rPr>
              <a:t>Loads libraries: pandas, matplotlib, anthropic SDK</a:t>
            </a:r>
          </a:p>
          <a:p>
            <a:pPr algn="l">
              <a:buFont typeface="Arial" panose="020B0604020202020204" pitchFamily="34" charset="0"/>
              <a:buChar char="•"/>
            </a:pPr>
            <a:r>
              <a:rPr lang="en-CA" b="0" i="0" dirty="0" err="1">
                <a:effectLst/>
                <a:latin typeface="Courier New" panose="02070309020205020404" pitchFamily="49" charset="0"/>
              </a:rPr>
              <a:t>matplotlib.use</a:t>
            </a:r>
            <a:r>
              <a:rPr lang="en-CA" b="0" i="0" dirty="0">
                <a:effectLst/>
                <a:latin typeface="Courier New" panose="02070309020205020404" pitchFamily="49" charset="0"/>
              </a:rPr>
              <a:t>("Agg")</a:t>
            </a:r>
            <a:r>
              <a:rPr lang="en-CA" b="0" i="0" dirty="0">
                <a:effectLst/>
                <a:latin typeface="-apple-system"/>
              </a:rPr>
              <a:t> — saves charts to file, no popup window</a:t>
            </a:r>
          </a:p>
          <a:p>
            <a:pPr algn="l">
              <a:buFont typeface="Arial" panose="020B0604020202020204" pitchFamily="34" charset="0"/>
              <a:buChar char="•"/>
            </a:pPr>
            <a:r>
              <a:rPr lang="en-CA" b="0" i="0" dirty="0" err="1">
                <a:effectLst/>
                <a:latin typeface="Courier New" panose="02070309020205020404" pitchFamily="49" charset="0"/>
              </a:rPr>
              <a:t>load_dotenv</a:t>
            </a:r>
            <a:r>
              <a:rPr lang="en-CA" b="0" i="0" dirty="0">
                <a:effectLst/>
                <a:latin typeface="Courier New" panose="02070309020205020404" pitchFamily="49" charset="0"/>
              </a:rPr>
              <a:t>()</a:t>
            </a:r>
            <a:r>
              <a:rPr lang="en-CA" b="0" i="0" dirty="0">
                <a:effectLst/>
                <a:latin typeface="-apple-system"/>
              </a:rPr>
              <a:t> — reads API key from </a:t>
            </a:r>
            <a:r>
              <a:rPr lang="en-CA" b="0" i="0" dirty="0">
                <a:effectLst/>
                <a:latin typeface="Courier New" panose="02070309020205020404" pitchFamily="49" charset="0"/>
              </a:rPr>
              <a:t>.env</a:t>
            </a:r>
            <a:endParaRPr lang="en-CA" b="0" i="0" dirty="0">
              <a:effectLst/>
              <a:latin typeface="-apple-system"/>
            </a:endParaRPr>
          </a:p>
          <a:p>
            <a:pPr algn="l">
              <a:buFont typeface="Arial" panose="020B0604020202020204" pitchFamily="34" charset="0"/>
              <a:buChar char="•"/>
            </a:pPr>
            <a:r>
              <a:rPr lang="en-CA" b="0" i="0" dirty="0">
                <a:effectLst/>
                <a:latin typeface="Courier New" panose="02070309020205020404" pitchFamily="49" charset="0"/>
              </a:rPr>
              <a:t>client</a:t>
            </a:r>
            <a:r>
              <a:rPr lang="en-CA" b="0" i="0" dirty="0">
                <a:effectLst/>
                <a:latin typeface="-apple-system"/>
              </a:rPr>
              <a:t> — authenticated connection to Claude API</a:t>
            </a:r>
          </a:p>
          <a:p>
            <a:pPr algn="l">
              <a:buFont typeface="Arial" panose="020B0604020202020204" pitchFamily="34" charset="0"/>
              <a:buChar char="•"/>
            </a:pPr>
            <a:r>
              <a:rPr lang="en-CA" b="0" i="0" dirty="0" err="1">
                <a:effectLst/>
                <a:latin typeface="Courier New" panose="02070309020205020404" pitchFamily="49" charset="0"/>
              </a:rPr>
              <a:t>df</a:t>
            </a:r>
            <a:r>
              <a:rPr lang="en-CA" b="0" i="0" dirty="0">
                <a:effectLst/>
                <a:latin typeface="-apple-system"/>
              </a:rPr>
              <a:t> — entire health CSV loaded into memory at startup</a:t>
            </a:r>
          </a:p>
          <a:p>
            <a:pPr algn="l">
              <a:buFont typeface="Arial" panose="020B0604020202020204" pitchFamily="34" charset="0"/>
              <a:buChar char="•"/>
            </a:pPr>
            <a:r>
              <a:rPr lang="en-CA" b="0" i="0" dirty="0">
                <a:effectLst/>
                <a:latin typeface="-apple-system"/>
              </a:rPr>
              <a:t>Nothing is sent to Claude yet — this is just preparation</a:t>
            </a:r>
          </a:p>
        </p:txBody>
      </p:sp>
      <p:sp>
        <p:nvSpPr>
          <p:cNvPr id="18" name="TextBox 17">
            <a:extLst>
              <a:ext uri="{FF2B5EF4-FFF2-40B4-BE49-F238E27FC236}">
                <a16:creationId xmlns:a16="http://schemas.microsoft.com/office/drawing/2014/main" id="{DCF49690-D378-1921-4AB6-6A025037DD0F}"/>
              </a:ext>
            </a:extLst>
          </p:cNvPr>
          <p:cNvSpPr txBox="1"/>
          <p:nvPr/>
        </p:nvSpPr>
        <p:spPr>
          <a:xfrm>
            <a:off x="22302" y="2396611"/>
            <a:ext cx="12099072" cy="1200329"/>
          </a:xfrm>
          <a:prstGeom prst="rect">
            <a:avLst/>
          </a:prstGeom>
          <a:solidFill>
            <a:schemeClr val="accent5">
              <a:lumMod val="20000"/>
              <a:lumOff val="80000"/>
            </a:schemeClr>
          </a:solidFill>
        </p:spPr>
        <p:txBody>
          <a:bodyPr wrap="square">
            <a:spAutoFit/>
          </a:bodyPr>
          <a:lstStyle/>
          <a:p>
            <a:pPr algn="l">
              <a:buNone/>
            </a:pPr>
            <a:r>
              <a:rPr lang="en-CA" b="1" i="0" dirty="0">
                <a:effectLst/>
                <a:latin typeface="-apple-system"/>
              </a:rPr>
              <a:t>WHAT IS A TOOL?</a:t>
            </a:r>
            <a:endParaRPr lang="en-CA" b="0" i="0" dirty="0">
              <a:effectLst/>
              <a:latin typeface="-apple-system"/>
            </a:endParaRPr>
          </a:p>
          <a:p>
            <a:pPr algn="l">
              <a:buFont typeface="Arial" panose="020B0604020202020204" pitchFamily="34" charset="0"/>
              <a:buChar char="•"/>
            </a:pPr>
            <a:r>
              <a:rPr lang="en-CA" b="0" i="0" dirty="0">
                <a:effectLst/>
                <a:latin typeface="-apple-system"/>
              </a:rPr>
              <a:t>A capability you give the LLM to </a:t>
            </a:r>
            <a:r>
              <a:rPr lang="en-CA" b="0" i="1" dirty="0">
                <a:effectLst/>
                <a:latin typeface="-apple-system"/>
              </a:rPr>
              <a:t>do something</a:t>
            </a:r>
            <a:r>
              <a:rPr lang="en-CA" b="0" i="0" dirty="0">
                <a:effectLst/>
                <a:latin typeface="-apple-system"/>
              </a:rPr>
              <a:t> instead of just </a:t>
            </a:r>
            <a:r>
              <a:rPr lang="en-CA" b="0" i="1" dirty="0">
                <a:effectLst/>
                <a:latin typeface="-apple-system"/>
              </a:rPr>
              <a:t>say something</a:t>
            </a:r>
            <a:endParaRPr lang="en-CA" b="0" i="0" dirty="0">
              <a:effectLst/>
              <a:latin typeface="-apple-system"/>
            </a:endParaRPr>
          </a:p>
          <a:p>
            <a:pPr algn="l">
              <a:buFont typeface="Arial" panose="020B0604020202020204" pitchFamily="34" charset="0"/>
              <a:buChar char="•"/>
            </a:pPr>
            <a:r>
              <a:rPr lang="en-CA" b="0" i="0" dirty="0">
                <a:effectLst/>
                <a:latin typeface="-apple-system"/>
              </a:rPr>
              <a:t>Claude lives on </a:t>
            </a:r>
            <a:r>
              <a:rPr lang="en-CA" b="0" i="0" dirty="0" err="1">
                <a:effectLst/>
                <a:latin typeface="-apple-system"/>
              </a:rPr>
              <a:t>Anthropic's</a:t>
            </a:r>
            <a:r>
              <a:rPr lang="en-CA" b="0" i="0" dirty="0">
                <a:effectLst/>
                <a:latin typeface="-apple-system"/>
              </a:rPr>
              <a:t> servers — it cannot run Python, access your files, or execute anything</a:t>
            </a:r>
          </a:p>
          <a:p>
            <a:pPr algn="l">
              <a:buFont typeface="Arial" panose="020B0604020202020204" pitchFamily="34" charset="0"/>
              <a:buChar char="•"/>
            </a:pPr>
            <a:r>
              <a:rPr lang="en-CA" b="0" i="0" dirty="0">
                <a:effectLst/>
                <a:latin typeface="-apple-system"/>
              </a:rPr>
              <a:t>You define a tool → Claude decides to use it → your app executes it → result sent back to Claude</a:t>
            </a:r>
          </a:p>
        </p:txBody>
      </p:sp>
      <p:pic>
        <p:nvPicPr>
          <p:cNvPr id="23" name="Picture 22">
            <a:extLst>
              <a:ext uri="{FF2B5EF4-FFF2-40B4-BE49-F238E27FC236}">
                <a16:creationId xmlns:a16="http://schemas.microsoft.com/office/drawing/2014/main" id="{15D3A1A2-63D6-F594-7157-0C5D3F722A9C}"/>
              </a:ext>
            </a:extLst>
          </p:cNvPr>
          <p:cNvPicPr>
            <a:picLocks noChangeAspect="1"/>
          </p:cNvPicPr>
          <p:nvPr/>
        </p:nvPicPr>
        <p:blipFill>
          <a:blip r:embed="rId2"/>
          <a:stretch>
            <a:fillRect/>
          </a:stretch>
        </p:blipFill>
        <p:spPr>
          <a:xfrm>
            <a:off x="110273" y="3685227"/>
            <a:ext cx="11654264" cy="2735910"/>
          </a:xfrm>
          <a:prstGeom prst="rect">
            <a:avLst/>
          </a:prstGeom>
        </p:spPr>
      </p:pic>
    </p:spTree>
    <p:extLst>
      <p:ext uri="{BB962C8B-B14F-4D97-AF65-F5344CB8AC3E}">
        <p14:creationId xmlns:p14="http://schemas.microsoft.com/office/powerpoint/2010/main" val="4226672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D018EB-0938-19D2-8F50-3EEF8D1A631D}"/>
              </a:ext>
            </a:extLst>
          </p:cNvPr>
          <p:cNvSpPr>
            <a:spLocks noChangeArrowheads="1"/>
          </p:cNvSpPr>
          <p:nvPr/>
        </p:nvSpPr>
        <p:spPr bwMode="auto">
          <a:xfrm>
            <a:off x="22302" y="32112"/>
            <a:ext cx="12099073" cy="1508105"/>
          </a:xfrm>
          <a:prstGeom prst="rect">
            <a:avLst/>
          </a:prstGeom>
          <a:solidFill>
            <a:schemeClr val="tx2">
              <a:lumMod val="10000"/>
              <a:lumOff val="9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TOOL DEFINITION — 3 REQUIRED FIELDS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rPr>
              <a:t>name</a:t>
            </a:r>
            <a:r>
              <a:rPr kumimoji="0" lang="en-US" altLang="en-US" sz="1600" b="0" i="0" u="none" strike="noStrike" cap="none" normalizeH="0" baseline="0" dirty="0">
                <a:ln>
                  <a:noFill/>
                </a:ln>
                <a:effectLst/>
                <a:latin typeface="Courier New" panose="02070309020205020404" pitchFamily="49" charset="0"/>
              </a:rPr>
              <a:t> → identifier Claude uses to call the tool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Courier New" panose="02070309020205020404" pitchFamily="49" charset="0"/>
              </a:rPr>
              <a:t>Description</a:t>
            </a:r>
            <a:r>
              <a:rPr lang="en-US" altLang="en-US" sz="1600" dirty="0">
                <a:latin typeface="Courier New" panose="02070309020205020404" pitchFamily="49" charset="0"/>
              </a:rPr>
              <a:t> </a:t>
            </a:r>
            <a:r>
              <a:rPr kumimoji="0" lang="en-US" altLang="en-US" sz="1600" b="0" i="0" u="none" strike="noStrike" cap="none" normalizeH="0" baseline="0" dirty="0">
                <a:ln>
                  <a:noFill/>
                </a:ln>
                <a:effectLst/>
                <a:latin typeface="Courier New" panose="02070309020205020404" pitchFamily="49" charset="0"/>
              </a:rPr>
              <a:t>→Claude reads this to decide when/how to use the tool (most imp for customization)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effectLst/>
                <a:latin typeface="Courier New" panose="02070309020205020404" pitchFamily="49" charset="0"/>
              </a:rPr>
              <a:t>input_schema</a:t>
            </a:r>
            <a:r>
              <a:rPr kumimoji="0" lang="en-US" altLang="en-US" sz="1600" b="1" i="0" u="none" strike="noStrike" cap="none" normalizeH="0" baseline="0" dirty="0">
                <a:ln>
                  <a:noFill/>
                </a:ln>
                <a:effectLst/>
                <a:latin typeface="Courier New" panose="02070309020205020404" pitchFamily="49" charset="0"/>
              </a:rPr>
              <a:t> </a:t>
            </a:r>
            <a:r>
              <a:rPr kumimoji="0" lang="en-US" altLang="en-US" sz="1600" b="0" i="0" u="none" strike="noStrike" cap="none" normalizeH="0" baseline="0" dirty="0">
                <a:ln>
                  <a:noFill/>
                </a:ln>
                <a:effectLst/>
                <a:latin typeface="Courier New" panose="02070309020205020404" pitchFamily="49" charset="0"/>
              </a:rPr>
              <a:t>→ shape of arguments Claude must provide (JSON Schema format)</a:t>
            </a:r>
          </a:p>
          <a:p>
            <a:pPr algn="l">
              <a:buNone/>
            </a:pPr>
            <a:r>
              <a:rPr lang="en-CA" sz="1600" b="0" i="0" dirty="0">
                <a:effectLst/>
                <a:latin typeface="-apple-system"/>
              </a:rPr>
              <a:t>Optional 4th field: </a:t>
            </a:r>
            <a:r>
              <a:rPr lang="en-CA" sz="1600" b="1" i="0" dirty="0" err="1">
                <a:effectLst/>
                <a:latin typeface="Courier New" panose="02070309020205020404" pitchFamily="49" charset="0"/>
              </a:rPr>
              <a:t>cache_control</a:t>
            </a:r>
            <a:r>
              <a:rPr lang="en-CA" sz="1600" b="1" i="0" dirty="0">
                <a:effectLst/>
                <a:latin typeface="-apple-system"/>
              </a:rPr>
              <a:t> </a:t>
            </a:r>
            <a:r>
              <a:rPr lang="en-CA" sz="1600" b="0" i="0" dirty="0">
                <a:effectLst/>
                <a:latin typeface="-apple-system"/>
              </a:rPr>
              <a:t>(advanced, for prompt caching)</a:t>
            </a:r>
          </a:p>
        </p:txBody>
      </p:sp>
      <p:sp>
        <p:nvSpPr>
          <p:cNvPr id="3" name="Rectangle 2">
            <a:extLst>
              <a:ext uri="{FF2B5EF4-FFF2-40B4-BE49-F238E27FC236}">
                <a16:creationId xmlns:a16="http://schemas.microsoft.com/office/drawing/2014/main" id="{1757C9E4-55C8-E9D4-5E3B-E567138CB637}"/>
              </a:ext>
            </a:extLst>
          </p:cNvPr>
          <p:cNvSpPr>
            <a:spLocks noChangeArrowheads="1"/>
          </p:cNvSpPr>
          <p:nvPr/>
        </p:nvSpPr>
        <p:spPr bwMode="auto">
          <a:xfrm>
            <a:off x="11151" y="1616245"/>
            <a:ext cx="12121375" cy="1969770"/>
          </a:xfrm>
          <a:prstGeom prst="rect">
            <a:avLst/>
          </a:prstGeom>
          <a:solidFill>
            <a:schemeClr val="accent2">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INPUT SCHEMA — WHAT IT MEANS</a:t>
            </a:r>
            <a:endParaRPr kumimoji="0" lang="en-US" altLang="en-US" sz="1600" b="0" i="0" u="none" strike="noStrike" cap="none" normalizeH="0" baseline="0" dirty="0">
              <a:ln>
                <a:noFill/>
              </a:ln>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Courier New" panose="02070309020205020404" pitchFamily="49" charset="0"/>
              </a:rPr>
              <a:t>type</a:t>
            </a:r>
            <a:r>
              <a:rPr kumimoji="0" lang="en-US" altLang="en-US" sz="1600" b="0" i="0" u="none" strike="noStrike" cap="none" normalizeH="0" baseline="0" dirty="0">
                <a:ln>
                  <a:noFill/>
                </a:ln>
                <a:effectLst/>
                <a:latin typeface="Courier New" panose="02070309020205020404" pitchFamily="49" charset="0"/>
              </a:rPr>
              <a:t>": "object" → Claude's response will be a dictionary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Courier New" panose="02070309020205020404" pitchFamily="49" charset="0"/>
              </a:rPr>
              <a:t>properties</a:t>
            </a:r>
            <a:r>
              <a:rPr kumimoji="0" lang="en-US" altLang="en-US" sz="1600" b="0" i="0" u="none" strike="noStrike" cap="none" normalizeH="0" baseline="0" dirty="0">
                <a:ln>
                  <a:noFill/>
                </a:ln>
                <a:effectLst/>
                <a:latin typeface="Courier New" panose="02070309020205020404" pitchFamily="49" charset="0"/>
              </a:rPr>
              <a:t>" → lists every argument the tool accepts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Courier New" panose="02070309020205020404" pitchFamily="49" charset="0"/>
              </a:rPr>
              <a:t>type</a:t>
            </a:r>
            <a:r>
              <a:rPr kumimoji="0" lang="en-US" altLang="en-US" sz="1600" b="0" i="0" u="none" strike="noStrike" cap="none" normalizeH="0" baseline="0" dirty="0">
                <a:ln>
                  <a:noFill/>
                </a:ln>
                <a:effectLst/>
                <a:latin typeface="Courier New" panose="02070309020205020404" pitchFamily="49" charset="0"/>
              </a:rPr>
              <a:t>": "string" → that argument must be a string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Courier New" panose="02070309020205020404" pitchFamily="49" charset="0"/>
              </a:rPr>
              <a:t>description</a:t>
            </a:r>
            <a:r>
              <a:rPr kumimoji="0" lang="en-US" altLang="en-US" sz="1600" b="0" i="0" u="none" strike="noStrike" cap="none" normalizeH="0" baseline="0" dirty="0">
                <a:ln>
                  <a:noFill/>
                </a:ln>
                <a:effectLst/>
                <a:latin typeface="Courier New" panose="02070309020205020404" pitchFamily="49" charset="0"/>
              </a:rPr>
              <a:t>" → tells Claude what to write in that argument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Courier New" panose="02070309020205020404" pitchFamily="49" charset="0"/>
              </a:rPr>
              <a:t>required</a:t>
            </a:r>
            <a:r>
              <a:rPr kumimoji="0" lang="en-US" altLang="en-US" sz="1600" b="0" i="0" u="none" strike="noStrike" cap="none" normalizeH="0" baseline="0" dirty="0">
                <a:ln>
                  <a:noFill/>
                </a:ln>
                <a:effectLst/>
                <a:latin typeface="Courier New" panose="02070309020205020404" pitchFamily="49" charset="0"/>
              </a:rPr>
              <a:t>": ["code"] → Claude must always provide this field</a:t>
            </a:r>
            <a:endParaRPr kumimoji="0" lang="en-US" altLang="en-US" sz="1600" b="0" i="0" u="none" strike="noStrike" cap="none" normalizeH="0" baseline="0" dirty="0">
              <a:ln>
                <a:noFill/>
              </a:ln>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effectLst/>
                <a:latin typeface="Courier New" panose="02070309020205020404" pitchFamily="49" charset="0"/>
              </a:rPr>
              <a:t>input_schema</a:t>
            </a:r>
            <a:r>
              <a:rPr kumimoji="0" lang="en-US" altLang="en-US" sz="1600" b="0" i="0" u="none" strike="noStrike" cap="none" normalizeH="0" baseline="0" dirty="0">
                <a:ln>
                  <a:noFill/>
                </a:ln>
                <a:effectLst/>
                <a:latin typeface="-apple-system"/>
              </a:rPr>
              <a:t> is always required — even if your tool takes no arguments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apple-system"/>
              </a:rPr>
              <a:t>Without it, Claude doesn't know what shape its response should be</a:t>
            </a:r>
          </a:p>
        </p:txBody>
      </p:sp>
      <p:sp>
        <p:nvSpPr>
          <p:cNvPr id="4" name="Rectangle 3">
            <a:extLst>
              <a:ext uri="{FF2B5EF4-FFF2-40B4-BE49-F238E27FC236}">
                <a16:creationId xmlns:a16="http://schemas.microsoft.com/office/drawing/2014/main" id="{E1A1974E-4B85-2347-60F6-3BC29F55B3BC}"/>
              </a:ext>
            </a:extLst>
          </p:cNvPr>
          <p:cNvSpPr>
            <a:spLocks noChangeArrowheads="1"/>
          </p:cNvSpPr>
          <p:nvPr/>
        </p:nvSpPr>
        <p:spPr bwMode="auto">
          <a:xfrm>
            <a:off x="11151" y="3662043"/>
            <a:ext cx="12132526" cy="1231106"/>
          </a:xfrm>
          <a:prstGeom prst="rect">
            <a:avLst/>
          </a:prstGeom>
          <a:solidFill>
            <a:schemeClr val="accent5">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TWO DESCRIPTIONS — WHY SEPARATE?</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Outer (tool-level) → what the tool is, when to call it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Inner (property-level) → what to write inside each argument </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For simple tools with one argument, both locations 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Separation becomes important as tools grow more complex</a:t>
            </a:r>
          </a:p>
        </p:txBody>
      </p:sp>
      <p:sp>
        <p:nvSpPr>
          <p:cNvPr id="5" name="Rectangle 4">
            <a:extLst>
              <a:ext uri="{FF2B5EF4-FFF2-40B4-BE49-F238E27FC236}">
                <a16:creationId xmlns:a16="http://schemas.microsoft.com/office/drawing/2014/main" id="{C2312FE4-57AF-AAFE-BF4F-AFCA194E81F6}"/>
              </a:ext>
            </a:extLst>
          </p:cNvPr>
          <p:cNvSpPr>
            <a:spLocks noChangeArrowheads="1"/>
          </p:cNvSpPr>
          <p:nvPr/>
        </p:nvSpPr>
        <p:spPr bwMode="auto">
          <a:xfrm>
            <a:off x="22302" y="5099448"/>
            <a:ext cx="12132526" cy="1231106"/>
          </a:xfrm>
          <a:prstGeom prst="rect">
            <a:avLst/>
          </a:prstGeom>
          <a:solidFill>
            <a:schemeClr val="accent6">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TOOL FORMAT IS PROVIDER-SPECIFIC</a:t>
            </a:r>
            <a:endParaRPr kumimoji="0" lang="en-US" altLang="en-US" sz="1600" b="0" i="0" u="none" strike="noStrike" cap="none" normalizeH="0" baseline="0" dirty="0">
              <a:ln>
                <a:noFill/>
              </a:ln>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Anthropic (Claude) → uses "</a:t>
            </a:r>
            <a:r>
              <a:rPr kumimoji="0" lang="en-US" altLang="en-US" sz="1600" b="0" i="0" u="none" strike="noStrike" cap="none" normalizeH="0" baseline="0" dirty="0" err="1">
                <a:ln>
                  <a:noFill/>
                </a:ln>
                <a:effectLst/>
                <a:latin typeface="Courier New" panose="02070309020205020404" pitchFamily="49" charset="0"/>
              </a:rPr>
              <a:t>input_schema</a:t>
            </a:r>
            <a:r>
              <a:rPr kumimoji="0" lang="en-US" altLang="en-US" sz="1600" b="0" i="0" u="none" strike="noStrike" cap="none" normalizeH="0" baseline="0" dirty="0">
                <a:ln>
                  <a:noFill/>
                </a:ln>
                <a:effectLst/>
                <a:latin typeface="Courier New" panose="02070309020205020404" pitchFamily="49"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OpenAI (GPT) → uses "parameters"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Google (Gemini) → uses "parameters" with slightly different structure </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Concept is identical across all — only the key names differ</a:t>
            </a:r>
            <a:endParaRPr kumimoji="0" lang="en-US" altLang="en-US" sz="1600" b="0" i="0" u="none" strike="noStrike" cap="none" normalizeH="0" baseline="0" dirty="0">
              <a:ln>
                <a:noFill/>
              </a:ln>
              <a:effectLst/>
            </a:endParaRPr>
          </a:p>
        </p:txBody>
      </p:sp>
    </p:spTree>
    <p:extLst>
      <p:ext uri="{BB962C8B-B14F-4D97-AF65-F5344CB8AC3E}">
        <p14:creationId xmlns:p14="http://schemas.microsoft.com/office/powerpoint/2010/main" val="3409773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120EB3-2DAC-F248-1EC9-873D17B367B0}"/>
              </a:ext>
            </a:extLst>
          </p:cNvPr>
          <p:cNvSpPr txBox="1"/>
          <p:nvPr/>
        </p:nvSpPr>
        <p:spPr>
          <a:xfrm>
            <a:off x="46463" y="93884"/>
            <a:ext cx="12099073" cy="1077218"/>
          </a:xfrm>
          <a:prstGeom prst="rect">
            <a:avLst/>
          </a:prstGeom>
          <a:solidFill>
            <a:schemeClr val="bg2">
              <a:lumMod val="90000"/>
            </a:schemeClr>
          </a:solidFill>
        </p:spPr>
        <p:txBody>
          <a:bodyPr wrap="square">
            <a:spAutoFit/>
          </a:bodyPr>
          <a:lstStyle/>
          <a:p>
            <a:pPr algn="l">
              <a:buNone/>
            </a:pPr>
            <a:r>
              <a:rPr lang="en-CA" sz="1600" b="1" i="0" dirty="0">
                <a:effectLst/>
                <a:latin typeface="Courier New" panose="02070309020205020404" pitchFamily="49" charset="0"/>
              </a:rPr>
              <a:t>TOOLS</a:t>
            </a:r>
            <a:r>
              <a:rPr lang="en-CA" sz="1600" b="1" i="0" dirty="0">
                <a:effectLst/>
                <a:latin typeface="-apple-system"/>
              </a:rPr>
              <a:t> IS JUST A VARIABLE NAME</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Could be named anything: </a:t>
            </a:r>
            <a:r>
              <a:rPr lang="en-CA" sz="1600" b="0" i="0" dirty="0" err="1">
                <a:effectLst/>
                <a:latin typeface="Courier New" panose="02070309020205020404" pitchFamily="49" charset="0"/>
              </a:rPr>
              <a:t>tools_list</a:t>
            </a:r>
            <a:r>
              <a:rPr lang="en-CA" sz="1600" b="0" i="0" dirty="0">
                <a:effectLst/>
                <a:latin typeface="-apple-system"/>
              </a:rPr>
              <a:t>, </a:t>
            </a:r>
            <a:r>
              <a:rPr lang="en-CA" sz="1600" b="0" i="0" dirty="0">
                <a:effectLst/>
                <a:latin typeface="Courier New" panose="02070309020205020404" pitchFamily="49" charset="0"/>
              </a:rPr>
              <a:t>capabilities</a:t>
            </a:r>
            <a:r>
              <a:rPr lang="en-CA" sz="1600" b="0" i="0" dirty="0">
                <a:effectLst/>
                <a:latin typeface="-apple-system"/>
              </a:rPr>
              <a:t>, etc.</a:t>
            </a:r>
          </a:p>
          <a:p>
            <a:pPr algn="l">
              <a:buFont typeface="Arial" panose="020B0604020202020204" pitchFamily="34" charset="0"/>
              <a:buChar char="•"/>
            </a:pPr>
            <a:r>
              <a:rPr lang="en-CA" sz="1600" b="0" i="0" dirty="0">
                <a:effectLst/>
                <a:latin typeface="-apple-system"/>
              </a:rPr>
              <a:t>What matters is passing it to the API: </a:t>
            </a:r>
            <a:r>
              <a:rPr lang="en-CA" sz="1600" b="0" i="0" dirty="0" err="1">
                <a:effectLst/>
                <a:latin typeface="Courier New" panose="02070309020205020404" pitchFamily="49" charset="0"/>
              </a:rPr>
              <a:t>client.messages.create</a:t>
            </a:r>
            <a:r>
              <a:rPr lang="en-CA" sz="1600" b="0" i="0" dirty="0">
                <a:effectLst/>
                <a:latin typeface="Courier New" panose="02070309020205020404" pitchFamily="49" charset="0"/>
              </a:rPr>
              <a:t>(..., tools=TOOLS)</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All-caps convention = constant that doesn't change during the program</a:t>
            </a:r>
          </a:p>
        </p:txBody>
      </p:sp>
      <p:sp>
        <p:nvSpPr>
          <p:cNvPr id="4" name="Rectangle 1">
            <a:extLst>
              <a:ext uri="{FF2B5EF4-FFF2-40B4-BE49-F238E27FC236}">
                <a16:creationId xmlns:a16="http://schemas.microsoft.com/office/drawing/2014/main" id="{FE2A8373-EDE2-FC5B-66B1-F5D883A76515}"/>
              </a:ext>
            </a:extLst>
          </p:cNvPr>
          <p:cNvSpPr>
            <a:spLocks noChangeArrowheads="1"/>
          </p:cNvSpPr>
          <p:nvPr/>
        </p:nvSpPr>
        <p:spPr bwMode="auto">
          <a:xfrm>
            <a:off x="46463" y="1598049"/>
            <a:ext cx="12099072" cy="1969770"/>
          </a:xfrm>
          <a:prstGeom prst="rect">
            <a:avLst/>
          </a:prstGeom>
          <a:solidFill>
            <a:schemeClr val="accent4">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effectLst/>
                <a:latin typeface="Courier New" panose="02070309020205020404" pitchFamily="49" charset="0"/>
              </a:rPr>
              <a:t>run_python</a:t>
            </a:r>
            <a:r>
              <a:rPr kumimoji="0" lang="en-US" altLang="en-US" sz="1600" b="1"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apple-system"/>
              </a:rPr>
              <a:t> — HOW IT WORKS</a:t>
            </a:r>
            <a:endParaRPr kumimoji="0" lang="en-US" altLang="en-US" sz="1600" b="0" i="0" u="none" strike="noStrike" cap="none" normalizeH="0" baseline="0" dirty="0">
              <a:ln>
                <a:noFill/>
              </a:ln>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buffer = </a:t>
            </a:r>
            <a:r>
              <a:rPr kumimoji="0" lang="en-US" altLang="en-US" sz="1600" b="0" i="0" u="none" strike="noStrike" cap="none" normalizeH="0" baseline="0" dirty="0" err="1">
                <a:ln>
                  <a:noFill/>
                </a:ln>
                <a:effectLst/>
                <a:latin typeface="Courier New" panose="02070309020205020404" pitchFamily="49" charset="0"/>
              </a:rPr>
              <a:t>io.StringIO</a:t>
            </a:r>
            <a:r>
              <a:rPr kumimoji="0" lang="en-US" altLang="en-US" sz="1600" b="0" i="0" u="none" strike="noStrike" cap="none" normalizeH="0" baseline="0" dirty="0">
                <a:ln>
                  <a:noFill/>
                </a:ln>
                <a:effectLst/>
                <a:latin typeface="Courier New" panose="02070309020205020404" pitchFamily="49" charset="0"/>
              </a:rPr>
              <a:t>() → fake text file in memory to capture print() output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scope =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"pd": pd, ...} → restricted environment: Claude's code can only see these 3 variables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exec(code, scope) → runs Claude's code string as actual Python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effectLst/>
                <a:latin typeface="Courier New" panose="02070309020205020404" pitchFamily="49" charset="0"/>
              </a:rPr>
              <a:t>redirect_stdout</a:t>
            </a:r>
            <a:r>
              <a:rPr kumimoji="0" lang="en-US" altLang="en-US" sz="1600" b="0" i="0" u="none" strike="noStrike" cap="none" normalizeH="0" baseline="0" dirty="0">
                <a:ln>
                  <a:noFill/>
                </a:ln>
                <a:effectLst/>
                <a:latin typeface="Courier New" panose="02070309020205020404" pitchFamily="49" charset="0"/>
              </a:rPr>
              <a:t>(buffer) → captures print() output instead of showing in terminal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return </a:t>
            </a:r>
            <a:r>
              <a:rPr kumimoji="0" lang="en-US" altLang="en-US" sz="1600" b="0" i="0" u="none" strike="noStrike" cap="none" normalizeH="0" baseline="0" dirty="0" err="1">
                <a:ln>
                  <a:noFill/>
                </a:ln>
                <a:effectLst/>
                <a:latin typeface="Courier New" panose="02070309020205020404" pitchFamily="49" charset="0"/>
              </a:rPr>
              <a:t>buffer.getvalue</a:t>
            </a:r>
            <a:r>
              <a:rPr kumimoji="0" lang="en-US" altLang="en-US" sz="1600" b="0" i="0" u="none" strike="noStrike" cap="none" normalizeH="0" baseline="0" dirty="0">
                <a:ln>
                  <a:noFill/>
                </a:ln>
                <a:effectLst/>
                <a:latin typeface="Courier New" panose="02070309020205020404" pitchFamily="49" charset="0"/>
              </a:rPr>
              <a:t>() → sends printed output back to caller except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effectLst/>
                <a:latin typeface="Courier New" panose="02070309020205020404" pitchFamily="49" charset="0"/>
              </a:rPr>
              <a:t>Exception as e → if code crashes, returns error string so Claude can fix it </a:t>
            </a:r>
            <a:endParaRPr kumimoji="0" lang="en-US" altLang="en-US" sz="1600" b="0" i="0" u="none" strike="noStrike" cap="none" normalizeH="0" baseline="0" dirty="0">
              <a:ln>
                <a:noFill/>
              </a:ln>
              <a:effectLst/>
            </a:endParaRPr>
          </a:p>
        </p:txBody>
      </p:sp>
      <p:sp>
        <p:nvSpPr>
          <p:cNvPr id="5" name="Rectangle 2">
            <a:extLst>
              <a:ext uri="{FF2B5EF4-FFF2-40B4-BE49-F238E27FC236}">
                <a16:creationId xmlns:a16="http://schemas.microsoft.com/office/drawing/2014/main" id="{D891E51E-5A0E-7B5D-0316-5F71045FFCD8}"/>
              </a:ext>
            </a:extLst>
          </p:cNvPr>
          <p:cNvSpPr>
            <a:spLocks noChangeArrowheads="1"/>
          </p:cNvSpPr>
          <p:nvPr/>
        </p:nvSpPr>
        <p:spPr bwMode="auto">
          <a:xfrm>
            <a:off x="46464" y="3692258"/>
            <a:ext cx="12145536" cy="1477328"/>
          </a:xfrm>
          <a:prstGeom prst="rect">
            <a:avLst/>
          </a:prstGeom>
          <a:solidFill>
            <a:schemeClr val="accent2">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FUNCTION SIGNATURE</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def </a:t>
            </a:r>
            <a:r>
              <a:rPr kumimoji="0" lang="en-US" altLang="en-US" sz="1600" b="0" i="0" u="none" strike="noStrike" cap="none" normalizeH="0" baseline="0" dirty="0" err="1">
                <a:ln>
                  <a:noFill/>
                </a:ln>
                <a:effectLst/>
                <a:latin typeface="Courier New" panose="02070309020205020404" pitchFamily="49" charset="0"/>
              </a:rPr>
              <a:t>run_python</a:t>
            </a:r>
            <a:r>
              <a:rPr kumimoji="0" lang="en-US" altLang="en-US" sz="1600" b="0" i="0" u="none" strike="noStrike" cap="none" normalizeH="0" baseline="0" dirty="0">
                <a:ln>
                  <a:noFill/>
                </a:ln>
                <a:effectLst/>
                <a:latin typeface="Courier New" panose="02070309020205020404" pitchFamily="49" charset="0"/>
              </a:rPr>
              <a:t>(code: str) -&gt; str: </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Courier New" panose="02070309020205020404" pitchFamily="49" charset="0"/>
              </a:rPr>
              <a:t>code: str</a:t>
            </a:r>
            <a:r>
              <a:rPr kumimoji="0" lang="en-US" altLang="en-US" sz="1600" b="0" i="0" u="none" strike="noStrike" cap="none" normalizeH="0" baseline="0" dirty="0">
                <a:ln>
                  <a:noFill/>
                </a:ln>
                <a:effectLst/>
                <a:latin typeface="-apple-system"/>
              </a:rPr>
              <a:t> → accepts Claude's generated Python code as a string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Courier New" panose="02070309020205020404" pitchFamily="49" charset="0"/>
              </a:rPr>
              <a:t>-&gt; str</a:t>
            </a:r>
            <a:r>
              <a:rPr kumimoji="0" lang="en-US" altLang="en-US" sz="1600" b="0" i="0" u="none" strike="noStrike" cap="none" normalizeH="0" baseline="0" dirty="0">
                <a:ln>
                  <a:noFill/>
                </a:ln>
                <a:effectLst/>
                <a:latin typeface="-apple-system"/>
              </a:rPr>
              <a:t> → always returns a string (result or error) back to Claude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Name must match </a:t>
            </a:r>
            <a:r>
              <a:rPr kumimoji="0" lang="en-US" altLang="en-US" sz="1600" b="0" i="0" u="none" strike="noStrike" cap="none" normalizeH="0" baseline="0" dirty="0">
                <a:ln>
                  <a:noFill/>
                </a:ln>
                <a:effectLst/>
                <a:latin typeface="Courier New" panose="02070309020205020404" pitchFamily="49" charset="0"/>
              </a:rPr>
              <a:t>"name"</a:t>
            </a:r>
            <a:r>
              <a:rPr kumimoji="0" lang="en-US" altLang="en-US" sz="1600" b="0" i="0" u="none" strike="noStrike" cap="none" normalizeH="0" baseline="0" dirty="0">
                <a:ln>
                  <a:noFill/>
                </a:ln>
                <a:effectLst/>
                <a:latin typeface="-apple-system"/>
              </a:rPr>
              <a:t> field in </a:t>
            </a:r>
            <a:r>
              <a:rPr kumimoji="0" lang="en-US" altLang="en-US" sz="1600" b="0" i="0" u="none" strike="noStrike" cap="none" normalizeH="0" baseline="0" dirty="0">
                <a:ln>
                  <a:noFill/>
                </a:ln>
                <a:effectLst/>
                <a:latin typeface="Courier New" panose="02070309020205020404" pitchFamily="49" charset="0"/>
              </a:rPr>
              <a:t>TOOLS</a:t>
            </a:r>
            <a:r>
              <a:rPr kumimoji="0" lang="en-US" altLang="en-US" sz="1600" b="0" i="0" u="none" strike="noStrike" cap="none" normalizeH="0" baseline="0" dirty="0">
                <a:ln>
                  <a:noFill/>
                </a:ln>
                <a:effectLst/>
                <a:latin typeface="-apple-system"/>
              </a:rPr>
              <a:t> JSON — that's how your code knows which function to 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Everything is strings because Claude communicates only in text</a:t>
            </a:r>
          </a:p>
        </p:txBody>
      </p:sp>
      <p:sp>
        <p:nvSpPr>
          <p:cNvPr id="7" name="TextBox 6">
            <a:extLst>
              <a:ext uri="{FF2B5EF4-FFF2-40B4-BE49-F238E27FC236}">
                <a16:creationId xmlns:a16="http://schemas.microsoft.com/office/drawing/2014/main" id="{0C7DD6F4-EB36-4E7E-2C02-66B32D08D21F}"/>
              </a:ext>
            </a:extLst>
          </p:cNvPr>
          <p:cNvSpPr txBox="1"/>
          <p:nvPr/>
        </p:nvSpPr>
        <p:spPr>
          <a:xfrm>
            <a:off x="2520778" y="1136384"/>
            <a:ext cx="8748583" cy="461665"/>
          </a:xfrm>
          <a:prstGeom prst="rect">
            <a:avLst/>
          </a:prstGeom>
          <a:noFill/>
        </p:spPr>
        <p:txBody>
          <a:bodyPr wrap="square">
            <a:spAutoFit/>
          </a:bodyPr>
          <a:lstStyle/>
          <a:p>
            <a:pPr algn="l">
              <a:buNone/>
            </a:pPr>
            <a:r>
              <a:rPr lang="en-CA" sz="2400" b="1" i="0" dirty="0" err="1">
                <a:effectLst/>
                <a:latin typeface="-apple-system"/>
              </a:rPr>
              <a:t>MapleVitals</a:t>
            </a:r>
            <a:r>
              <a:rPr lang="en-CA" sz="2400" b="1" i="0" dirty="0">
                <a:effectLst/>
                <a:latin typeface="-apple-system"/>
              </a:rPr>
              <a:t> Agent — </a:t>
            </a:r>
            <a:r>
              <a:rPr lang="en-CA" sz="2400" b="1" i="0" dirty="0" err="1">
                <a:effectLst/>
                <a:latin typeface="Courier New" panose="02070309020205020404" pitchFamily="49" charset="0"/>
              </a:rPr>
              <a:t>run_python</a:t>
            </a:r>
            <a:r>
              <a:rPr lang="en-CA" sz="2400" b="1" i="0" dirty="0">
                <a:effectLst/>
                <a:latin typeface="Courier New" panose="02070309020205020404" pitchFamily="49" charset="0"/>
              </a:rPr>
              <a:t>()</a:t>
            </a:r>
            <a:r>
              <a:rPr lang="en-CA" sz="2400" b="1" i="0" dirty="0">
                <a:effectLst/>
                <a:latin typeface="-apple-system"/>
              </a:rPr>
              <a:t> Function Summary</a:t>
            </a:r>
          </a:p>
        </p:txBody>
      </p:sp>
      <p:sp>
        <p:nvSpPr>
          <p:cNvPr id="9" name="TextBox 8">
            <a:extLst>
              <a:ext uri="{FF2B5EF4-FFF2-40B4-BE49-F238E27FC236}">
                <a16:creationId xmlns:a16="http://schemas.microsoft.com/office/drawing/2014/main" id="{19325C84-6AC1-8DD7-1D2E-4D45737F961B}"/>
              </a:ext>
            </a:extLst>
          </p:cNvPr>
          <p:cNvSpPr txBox="1"/>
          <p:nvPr/>
        </p:nvSpPr>
        <p:spPr>
          <a:xfrm>
            <a:off x="0" y="5243728"/>
            <a:ext cx="12145536" cy="1569660"/>
          </a:xfrm>
          <a:prstGeom prst="rect">
            <a:avLst/>
          </a:prstGeom>
          <a:solidFill>
            <a:schemeClr val="accent5">
              <a:lumMod val="20000"/>
              <a:lumOff val="80000"/>
            </a:schemeClr>
          </a:solidFill>
        </p:spPr>
        <p:txBody>
          <a:bodyPr wrap="square">
            <a:spAutoFit/>
          </a:bodyPr>
          <a:lstStyle/>
          <a:p>
            <a:pPr algn="l">
              <a:buNone/>
            </a:pPr>
            <a:r>
              <a:rPr lang="en-CA" sz="1600" b="1" i="0" dirty="0">
                <a:effectLst/>
                <a:latin typeface="Courier New" panose="02070309020205020404" pitchFamily="49" charset="0"/>
              </a:rPr>
              <a:t>buffer = </a:t>
            </a:r>
            <a:r>
              <a:rPr lang="en-CA" sz="1600" b="1" i="0" dirty="0" err="1">
                <a:effectLst/>
                <a:latin typeface="Courier New" panose="02070309020205020404" pitchFamily="49" charset="0"/>
              </a:rPr>
              <a:t>io.StringIO</a:t>
            </a:r>
            <a:r>
              <a:rPr lang="en-CA" sz="1600" b="1" i="0" dirty="0">
                <a:effectLst/>
                <a:latin typeface="Courier New" panose="02070309020205020404" pitchFamily="49" charset="0"/>
              </a:rPr>
              <a:t>()</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Creates an in-memory fake terminal — no file created on disk</a:t>
            </a:r>
          </a:p>
          <a:p>
            <a:pPr algn="l">
              <a:buFont typeface="Arial" panose="020B0604020202020204" pitchFamily="34" charset="0"/>
              <a:buChar char="•"/>
            </a:pPr>
            <a:r>
              <a:rPr lang="en-CA" sz="1600" b="0" i="0" dirty="0">
                <a:effectLst/>
                <a:latin typeface="-apple-system"/>
              </a:rPr>
              <a:t>Captures everything that </a:t>
            </a:r>
            <a:r>
              <a:rPr lang="en-CA" sz="1600" b="0" i="0" dirty="0">
                <a:effectLst/>
                <a:latin typeface="Courier New" panose="02070309020205020404" pitchFamily="49" charset="0"/>
              </a:rPr>
              <a:t>print()</a:t>
            </a:r>
            <a:r>
              <a:rPr lang="en-CA" sz="1600" b="0" i="0" dirty="0">
                <a:effectLst/>
                <a:latin typeface="-apple-system"/>
              </a:rPr>
              <a:t> would normally send to the screen</a:t>
            </a:r>
          </a:p>
          <a:p>
            <a:pPr algn="l">
              <a:buFont typeface="Arial" panose="020B0604020202020204" pitchFamily="34" charset="0"/>
              <a:buChar char="•"/>
            </a:pPr>
            <a:r>
              <a:rPr lang="en-CA" sz="1600" b="0" i="0" dirty="0">
                <a:effectLst/>
                <a:latin typeface="-apple-system"/>
              </a:rPr>
              <a:t>Just a variable name — could be called anything (</a:t>
            </a:r>
            <a:r>
              <a:rPr lang="en-CA" sz="1600" b="0" i="0" dirty="0">
                <a:effectLst/>
                <a:latin typeface="Courier New" panose="02070309020205020404" pitchFamily="49" charset="0"/>
              </a:rPr>
              <a:t>output</a:t>
            </a:r>
            <a:r>
              <a:rPr lang="en-CA" sz="1600" b="0" i="0" dirty="0">
                <a:effectLst/>
                <a:latin typeface="-apple-system"/>
              </a:rPr>
              <a:t>, </a:t>
            </a:r>
            <a:r>
              <a:rPr lang="en-CA" sz="1600" b="0" i="0" dirty="0">
                <a:effectLst/>
                <a:latin typeface="Courier New" panose="02070309020205020404" pitchFamily="49" charset="0"/>
              </a:rPr>
              <a:t>captured</a:t>
            </a:r>
            <a:r>
              <a:rPr lang="en-CA" sz="1600" b="0" i="0" dirty="0">
                <a:effectLst/>
                <a:latin typeface="-apple-system"/>
              </a:rPr>
              <a:t>, etc.)</a:t>
            </a:r>
          </a:p>
          <a:p>
            <a:pPr algn="l">
              <a:buFont typeface="Arial" panose="020B0604020202020204" pitchFamily="34" charset="0"/>
              <a:buChar char="•"/>
            </a:pPr>
            <a:r>
              <a:rPr lang="en-CA" sz="1600" b="0" i="0" dirty="0">
                <a:effectLst/>
                <a:latin typeface="-apple-system"/>
              </a:rPr>
              <a:t>Without it: </a:t>
            </a:r>
            <a:r>
              <a:rPr lang="en-CA" sz="1600" b="0" i="0" dirty="0">
                <a:effectLst/>
                <a:latin typeface="Courier New" panose="02070309020205020404" pitchFamily="49" charset="0"/>
              </a:rPr>
              <a:t>print()</a:t>
            </a:r>
            <a:r>
              <a:rPr lang="en-CA" sz="1600" b="0" i="0" dirty="0">
                <a:effectLst/>
                <a:latin typeface="-apple-system"/>
              </a:rPr>
              <a:t> → screen → lost forever</a:t>
            </a:r>
          </a:p>
          <a:p>
            <a:pPr algn="l">
              <a:buFont typeface="Arial" panose="020B0604020202020204" pitchFamily="34" charset="0"/>
              <a:buChar char="•"/>
            </a:pPr>
            <a:r>
              <a:rPr lang="en-CA" sz="1600" b="0" i="0" dirty="0">
                <a:effectLst/>
                <a:latin typeface="-apple-system"/>
              </a:rPr>
              <a:t>With it: </a:t>
            </a:r>
            <a:r>
              <a:rPr lang="en-CA" sz="1600" b="0" i="0" dirty="0">
                <a:effectLst/>
                <a:latin typeface="Courier New" panose="02070309020205020404" pitchFamily="49" charset="0"/>
              </a:rPr>
              <a:t>print()</a:t>
            </a:r>
            <a:r>
              <a:rPr lang="en-CA" sz="1600" b="0" i="0" dirty="0">
                <a:effectLst/>
                <a:latin typeface="-apple-system"/>
              </a:rPr>
              <a:t> → buffer → readable → </a:t>
            </a:r>
            <a:r>
              <a:rPr lang="en-CA" sz="1600" b="0" i="0" dirty="0" err="1">
                <a:effectLst/>
                <a:latin typeface="-apple-system"/>
              </a:rPr>
              <a:t>sendable</a:t>
            </a:r>
            <a:r>
              <a:rPr lang="en-CA" sz="1600" b="0" i="0" dirty="0">
                <a:effectLst/>
                <a:latin typeface="-apple-system"/>
              </a:rPr>
              <a:t> back to Claude</a:t>
            </a:r>
          </a:p>
        </p:txBody>
      </p:sp>
    </p:spTree>
    <p:extLst>
      <p:ext uri="{BB962C8B-B14F-4D97-AF65-F5344CB8AC3E}">
        <p14:creationId xmlns:p14="http://schemas.microsoft.com/office/powerpoint/2010/main" val="2854429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9AA938-F09B-59DE-F63D-5AA2DD1FBF1E}"/>
              </a:ext>
            </a:extLst>
          </p:cNvPr>
          <p:cNvSpPr txBox="1"/>
          <p:nvPr/>
        </p:nvSpPr>
        <p:spPr>
          <a:xfrm>
            <a:off x="65902" y="102105"/>
            <a:ext cx="12060195" cy="1569660"/>
          </a:xfrm>
          <a:prstGeom prst="rect">
            <a:avLst/>
          </a:prstGeom>
          <a:solidFill>
            <a:schemeClr val="bg2">
              <a:lumMod val="90000"/>
            </a:schemeClr>
          </a:solidFill>
        </p:spPr>
        <p:txBody>
          <a:bodyPr wrap="square">
            <a:spAutoFit/>
          </a:bodyPr>
          <a:lstStyle/>
          <a:p>
            <a:pPr algn="l">
              <a:buNone/>
            </a:pPr>
            <a:r>
              <a:rPr lang="en-CA" sz="1600" b="1" i="0" dirty="0">
                <a:effectLst/>
                <a:latin typeface="Courier New" panose="02070309020205020404" pitchFamily="49" charset="0"/>
              </a:rPr>
              <a:t>scope = {"</a:t>
            </a:r>
            <a:r>
              <a:rPr lang="en-CA" sz="1600" b="1" i="0" dirty="0" err="1">
                <a:effectLst/>
                <a:latin typeface="Courier New" panose="02070309020205020404" pitchFamily="49" charset="0"/>
              </a:rPr>
              <a:t>df</a:t>
            </a:r>
            <a:r>
              <a:rPr lang="en-CA" sz="1600" b="1" i="0" dirty="0">
                <a:effectLst/>
                <a:latin typeface="Courier New" panose="02070309020205020404" pitchFamily="49" charset="0"/>
              </a:rPr>
              <a:t>": </a:t>
            </a:r>
            <a:r>
              <a:rPr lang="en-CA" sz="1600" b="1" i="0" dirty="0" err="1">
                <a:effectLst/>
                <a:latin typeface="Courier New" panose="02070309020205020404" pitchFamily="49" charset="0"/>
              </a:rPr>
              <a:t>df</a:t>
            </a:r>
            <a:r>
              <a:rPr lang="en-CA" sz="1600" b="1" i="0" dirty="0">
                <a:effectLst/>
                <a:latin typeface="Courier New" panose="02070309020205020404" pitchFamily="49" charset="0"/>
              </a:rPr>
              <a:t>, "pd": pd, "</a:t>
            </a:r>
            <a:r>
              <a:rPr lang="en-CA" sz="1600" b="1" i="0" dirty="0" err="1">
                <a:effectLst/>
                <a:latin typeface="Courier New" panose="02070309020205020404" pitchFamily="49" charset="0"/>
              </a:rPr>
              <a:t>plt</a:t>
            </a:r>
            <a:r>
              <a:rPr lang="en-CA" sz="1600" b="1" i="0" dirty="0">
                <a:effectLst/>
                <a:latin typeface="Courier New" panose="02070309020205020404" pitchFamily="49" charset="0"/>
              </a:rPr>
              <a:t>": </a:t>
            </a:r>
            <a:r>
              <a:rPr lang="en-CA" sz="1600" b="1" i="0" dirty="0" err="1">
                <a:effectLst/>
                <a:latin typeface="Courier New" panose="02070309020205020404" pitchFamily="49" charset="0"/>
              </a:rPr>
              <a:t>plt</a:t>
            </a:r>
            <a:r>
              <a:rPr lang="en-CA" sz="1600" b="1" i="0" dirty="0">
                <a:effectLst/>
                <a:latin typeface="Courier New" panose="02070309020205020404" pitchFamily="49" charset="0"/>
              </a:rPr>
              <a:t>}</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A dictionary defining what variables Claude's code is allowed to see</a:t>
            </a:r>
          </a:p>
          <a:p>
            <a:pPr algn="l">
              <a:buFont typeface="Arial" panose="020B0604020202020204" pitchFamily="34" charset="0"/>
              <a:buChar char="•"/>
            </a:pPr>
            <a:r>
              <a:rPr lang="en-CA" sz="1600" b="0" i="0" dirty="0">
                <a:effectLst/>
                <a:latin typeface="-apple-system"/>
              </a:rPr>
              <a:t>Without scope: </a:t>
            </a:r>
            <a:r>
              <a:rPr lang="en-CA" sz="1600" b="0" i="0" dirty="0">
                <a:effectLst/>
                <a:latin typeface="Courier New" panose="02070309020205020404" pitchFamily="49" charset="0"/>
              </a:rPr>
              <a:t>exec</a:t>
            </a:r>
            <a:r>
              <a:rPr lang="en-CA" sz="1600" b="0" i="0" dirty="0">
                <a:effectLst/>
                <a:latin typeface="-apple-system"/>
              </a:rPr>
              <a:t> gives Claude access to everything — API keys, client object, all internals (security risk)</a:t>
            </a:r>
          </a:p>
          <a:p>
            <a:pPr algn="l">
              <a:buFont typeface="Arial" panose="020B0604020202020204" pitchFamily="34" charset="0"/>
              <a:buChar char="•"/>
            </a:pPr>
            <a:r>
              <a:rPr lang="en-CA" sz="1600" b="0" i="0" dirty="0">
                <a:effectLst/>
                <a:latin typeface="-apple-system"/>
              </a:rPr>
              <a:t>With scope: Claude's code can only touch these 3 things — nothing else exists</a:t>
            </a:r>
          </a:p>
          <a:p>
            <a:pPr algn="l">
              <a:buFont typeface="Arial" panose="020B0604020202020204" pitchFamily="34" charset="0"/>
              <a:buChar char="•"/>
            </a:pPr>
            <a:r>
              <a:rPr lang="en-CA" sz="1600" b="0" i="0" dirty="0">
                <a:effectLst/>
                <a:latin typeface="-apple-system"/>
              </a:rPr>
              <a:t>Must match what you told Claude in the tool description — if they don't match, Claude writes code using a variable that doesn't exist and errors</a:t>
            </a:r>
          </a:p>
        </p:txBody>
      </p:sp>
      <p:sp>
        <p:nvSpPr>
          <p:cNvPr id="5" name="TextBox 4">
            <a:extLst>
              <a:ext uri="{FF2B5EF4-FFF2-40B4-BE49-F238E27FC236}">
                <a16:creationId xmlns:a16="http://schemas.microsoft.com/office/drawing/2014/main" id="{FFC77AE6-0F1E-5A24-C1EB-ACCA7350B6B2}"/>
              </a:ext>
            </a:extLst>
          </p:cNvPr>
          <p:cNvSpPr txBox="1"/>
          <p:nvPr/>
        </p:nvSpPr>
        <p:spPr>
          <a:xfrm>
            <a:off x="65901" y="1728563"/>
            <a:ext cx="12060195" cy="1323439"/>
          </a:xfrm>
          <a:prstGeom prst="rect">
            <a:avLst/>
          </a:prstGeom>
          <a:solidFill>
            <a:schemeClr val="accent4">
              <a:lumMod val="20000"/>
              <a:lumOff val="80000"/>
            </a:schemeClr>
          </a:solidFill>
        </p:spPr>
        <p:txBody>
          <a:bodyPr wrap="square">
            <a:spAutoFit/>
          </a:bodyPr>
          <a:lstStyle/>
          <a:p>
            <a:pPr algn="l">
              <a:buNone/>
            </a:pPr>
            <a:r>
              <a:rPr lang="en-CA" sz="1600" b="1" i="0" dirty="0">
                <a:effectLst/>
                <a:latin typeface="Courier New" panose="02070309020205020404" pitchFamily="49" charset="0"/>
              </a:rPr>
              <a:t>with </a:t>
            </a:r>
            <a:r>
              <a:rPr lang="en-CA" sz="1600" b="1" i="0" dirty="0" err="1">
                <a:effectLst/>
                <a:latin typeface="Courier New" panose="02070309020205020404" pitchFamily="49" charset="0"/>
              </a:rPr>
              <a:t>contextlib.redirect_stdout</a:t>
            </a:r>
            <a:r>
              <a:rPr lang="en-CA" sz="1600" b="1" i="0" dirty="0">
                <a:effectLst/>
                <a:latin typeface="Courier New" panose="02070309020205020404" pitchFamily="49" charset="0"/>
              </a:rPr>
              <a:t>(buffer):</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Temporarily points all </a:t>
            </a:r>
            <a:r>
              <a:rPr lang="en-CA" sz="1600" b="0" i="0" dirty="0">
                <a:effectLst/>
                <a:latin typeface="Courier New" panose="02070309020205020404" pitchFamily="49" charset="0"/>
              </a:rPr>
              <a:t>print()</a:t>
            </a:r>
            <a:r>
              <a:rPr lang="en-CA" sz="1600" b="0" i="0" dirty="0">
                <a:effectLst/>
                <a:latin typeface="-apple-system"/>
              </a:rPr>
              <a:t> output at </a:t>
            </a:r>
            <a:r>
              <a:rPr lang="en-CA" sz="1600" b="0" i="0" dirty="0">
                <a:effectLst/>
                <a:latin typeface="Courier New" panose="02070309020205020404" pitchFamily="49" charset="0"/>
              </a:rPr>
              <a:t>buffer</a:t>
            </a:r>
            <a:r>
              <a:rPr lang="en-CA" sz="1600" b="0" i="0" dirty="0">
                <a:effectLst/>
                <a:latin typeface="-apple-system"/>
              </a:rPr>
              <a:t> instead of the screen</a:t>
            </a:r>
          </a:p>
          <a:p>
            <a:pPr algn="l">
              <a:buFont typeface="Arial" panose="020B0604020202020204" pitchFamily="34" charset="0"/>
              <a:buChar char="•"/>
            </a:pPr>
            <a:r>
              <a:rPr lang="en-CA" sz="1600" b="0" i="0" dirty="0">
                <a:effectLst/>
                <a:latin typeface="Courier New" panose="02070309020205020404" pitchFamily="49" charset="0"/>
              </a:rPr>
              <a:t>with</a:t>
            </a:r>
            <a:r>
              <a:rPr lang="en-CA" sz="1600" b="0" i="0" dirty="0">
                <a:effectLst/>
                <a:latin typeface="-apple-system"/>
              </a:rPr>
              <a:t> = context manager: applies the rule inside the block, restores to normal after</a:t>
            </a:r>
          </a:p>
          <a:p>
            <a:pPr algn="l">
              <a:buFont typeface="Arial" panose="020B0604020202020204" pitchFamily="34" charset="0"/>
              <a:buChar char="•"/>
            </a:pPr>
            <a:r>
              <a:rPr lang="en-CA" sz="1600" b="0" i="0" dirty="0">
                <a:effectLst/>
                <a:latin typeface="-apple-system"/>
              </a:rPr>
              <a:t>Guarantees </a:t>
            </a:r>
            <a:r>
              <a:rPr lang="en-CA" sz="1600" b="0" i="0" dirty="0" err="1">
                <a:effectLst/>
                <a:latin typeface="-apple-system"/>
              </a:rPr>
              <a:t>stdout</a:t>
            </a:r>
            <a:r>
              <a:rPr lang="en-CA" sz="1600" b="0" i="0" dirty="0">
                <a:effectLst/>
                <a:latin typeface="-apple-system"/>
              </a:rPr>
              <a:t> is restored even if Claude's code crashes mid-execution</a:t>
            </a:r>
          </a:p>
          <a:p>
            <a:pPr algn="l">
              <a:buFont typeface="Arial" panose="020B0604020202020204" pitchFamily="34" charset="0"/>
              <a:buChar char="•"/>
            </a:pPr>
            <a:r>
              <a:rPr lang="en-CA" sz="1600" b="0" i="0" dirty="0">
                <a:effectLst/>
                <a:latin typeface="-apple-system"/>
              </a:rPr>
              <a:t>Without </a:t>
            </a:r>
            <a:r>
              <a:rPr lang="en-CA" sz="1600" b="0" i="0" dirty="0">
                <a:effectLst/>
                <a:latin typeface="Courier New" panose="02070309020205020404" pitchFamily="49" charset="0"/>
              </a:rPr>
              <a:t>with</a:t>
            </a:r>
            <a:r>
              <a:rPr lang="en-CA" sz="1600" b="0" i="0" dirty="0">
                <a:effectLst/>
                <a:latin typeface="-apple-system"/>
              </a:rPr>
              <a:t>: a crash could leave your terminal permanently broken</a:t>
            </a:r>
          </a:p>
        </p:txBody>
      </p:sp>
      <p:sp>
        <p:nvSpPr>
          <p:cNvPr id="7" name="TextBox 6">
            <a:extLst>
              <a:ext uri="{FF2B5EF4-FFF2-40B4-BE49-F238E27FC236}">
                <a16:creationId xmlns:a16="http://schemas.microsoft.com/office/drawing/2014/main" id="{6B9DEB60-CC36-1B92-AA52-2B954D9EF5FA}"/>
              </a:ext>
            </a:extLst>
          </p:cNvPr>
          <p:cNvSpPr txBox="1"/>
          <p:nvPr/>
        </p:nvSpPr>
        <p:spPr>
          <a:xfrm>
            <a:off x="65901" y="3108800"/>
            <a:ext cx="12060195" cy="1569660"/>
          </a:xfrm>
          <a:prstGeom prst="rect">
            <a:avLst/>
          </a:prstGeom>
          <a:solidFill>
            <a:schemeClr val="accent5">
              <a:lumMod val="20000"/>
              <a:lumOff val="80000"/>
            </a:schemeClr>
          </a:solidFill>
        </p:spPr>
        <p:txBody>
          <a:bodyPr wrap="square">
            <a:spAutoFit/>
          </a:bodyPr>
          <a:lstStyle/>
          <a:p>
            <a:pPr algn="l">
              <a:buNone/>
            </a:pPr>
            <a:r>
              <a:rPr lang="en-CA" sz="1600" b="1" i="0" dirty="0">
                <a:effectLst/>
                <a:latin typeface="Courier New" panose="02070309020205020404" pitchFamily="49" charset="0"/>
              </a:rPr>
              <a:t>exec(code, scope)</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Built-in Python function that takes a string and runs it as actual Python code</a:t>
            </a:r>
          </a:p>
          <a:p>
            <a:pPr algn="l">
              <a:buFont typeface="Arial" panose="020B0604020202020204" pitchFamily="34" charset="0"/>
              <a:buChar char="•"/>
            </a:pPr>
            <a:r>
              <a:rPr lang="en-CA" sz="1600" b="0" i="0" dirty="0">
                <a:effectLst/>
                <a:latin typeface="-apple-system"/>
              </a:rPr>
              <a:t>Skips the </a:t>
            </a:r>
            <a:r>
              <a:rPr lang="en-CA" sz="1600" b="0" i="0" dirty="0">
                <a:effectLst/>
                <a:latin typeface="Courier New" panose="02070309020205020404" pitchFamily="49" charset="0"/>
              </a:rPr>
              <a:t>.</a:t>
            </a:r>
            <a:r>
              <a:rPr lang="en-CA" sz="1600" b="0" i="0" dirty="0" err="1">
                <a:effectLst/>
                <a:latin typeface="Courier New" panose="02070309020205020404" pitchFamily="49" charset="0"/>
              </a:rPr>
              <a:t>py</a:t>
            </a:r>
            <a:r>
              <a:rPr lang="en-CA" sz="1600" b="0" i="0" dirty="0">
                <a:effectLst/>
                <a:latin typeface="-apple-system"/>
              </a:rPr>
              <a:t> file — executes code at runtime directly</a:t>
            </a:r>
          </a:p>
          <a:p>
            <a:pPr algn="l">
              <a:buFont typeface="Arial" panose="020B0604020202020204" pitchFamily="34" charset="0"/>
              <a:buChar char="•"/>
            </a:pPr>
            <a:r>
              <a:rPr lang="en-CA" sz="1600" b="0" i="0" dirty="0">
                <a:effectLst/>
                <a:latin typeface="Courier New" panose="02070309020205020404" pitchFamily="49" charset="0"/>
              </a:rPr>
              <a:t>scope</a:t>
            </a:r>
            <a:r>
              <a:rPr lang="en-CA" sz="1600" b="0" i="0" dirty="0">
                <a:effectLst/>
                <a:latin typeface="-apple-system"/>
              </a:rPr>
              <a:t> argument restricts what variables the code can access</a:t>
            </a:r>
          </a:p>
          <a:p>
            <a:pPr algn="l">
              <a:buFont typeface="Arial" panose="020B0604020202020204" pitchFamily="34" charset="0"/>
              <a:buChar char="•"/>
            </a:pPr>
            <a:r>
              <a:rPr lang="en-CA" sz="1600" b="0" i="0" dirty="0">
                <a:effectLst/>
                <a:latin typeface="-apple-system"/>
              </a:rPr>
              <a:t>Powerful: Claude can write any valid Python and your program executes it</a:t>
            </a:r>
          </a:p>
          <a:p>
            <a:pPr algn="l">
              <a:buFont typeface="Arial" panose="020B0604020202020204" pitchFamily="34" charset="0"/>
              <a:buChar char="•"/>
            </a:pPr>
            <a:r>
              <a:rPr lang="en-CA" sz="1600" b="0" i="0" dirty="0">
                <a:effectLst/>
                <a:latin typeface="-apple-system"/>
              </a:rPr>
              <a:t>Dangerous: runs whatever string it receives, no questions asked — safe only for local, trusted use</a:t>
            </a:r>
          </a:p>
        </p:txBody>
      </p:sp>
      <p:sp>
        <p:nvSpPr>
          <p:cNvPr id="9" name="TextBox 8">
            <a:extLst>
              <a:ext uri="{FF2B5EF4-FFF2-40B4-BE49-F238E27FC236}">
                <a16:creationId xmlns:a16="http://schemas.microsoft.com/office/drawing/2014/main" id="{CE5BF305-0F7F-470C-C14C-D27BD5FB7CC9}"/>
              </a:ext>
            </a:extLst>
          </p:cNvPr>
          <p:cNvSpPr txBox="1"/>
          <p:nvPr/>
        </p:nvSpPr>
        <p:spPr>
          <a:xfrm>
            <a:off x="65901" y="4735258"/>
            <a:ext cx="12060195" cy="1200329"/>
          </a:xfrm>
          <a:prstGeom prst="rect">
            <a:avLst/>
          </a:prstGeom>
          <a:solidFill>
            <a:schemeClr val="accent3">
              <a:lumMod val="20000"/>
              <a:lumOff val="80000"/>
            </a:schemeClr>
          </a:solidFill>
        </p:spPr>
        <p:txBody>
          <a:bodyPr wrap="square">
            <a:spAutoFit/>
          </a:bodyPr>
          <a:lstStyle/>
          <a:p>
            <a:pPr algn="l">
              <a:buNone/>
            </a:pPr>
            <a:r>
              <a:rPr lang="en-CA" b="1" i="0" dirty="0">
                <a:effectLst/>
                <a:latin typeface="Courier New" panose="02070309020205020404" pitchFamily="49" charset="0"/>
              </a:rPr>
              <a:t>return </a:t>
            </a:r>
            <a:r>
              <a:rPr lang="en-CA" b="1" i="0" dirty="0" err="1">
                <a:effectLst/>
                <a:latin typeface="Courier New" panose="02070309020205020404" pitchFamily="49" charset="0"/>
              </a:rPr>
              <a:t>buffer.getvalue</a:t>
            </a:r>
            <a:r>
              <a:rPr lang="en-CA" b="1" i="0" dirty="0">
                <a:effectLst/>
                <a:latin typeface="Courier New" panose="02070309020205020404" pitchFamily="49" charset="0"/>
              </a:rPr>
              <a:t>() or "(code ran, no printed output)"</a:t>
            </a:r>
            <a:endParaRPr lang="en-CA" b="0" i="0" dirty="0">
              <a:effectLst/>
              <a:latin typeface="-apple-system"/>
            </a:endParaRPr>
          </a:p>
          <a:p>
            <a:pPr algn="l">
              <a:buFont typeface="Arial" panose="020B0604020202020204" pitchFamily="34" charset="0"/>
              <a:buChar char="•"/>
            </a:pPr>
            <a:r>
              <a:rPr lang="en-CA" b="0" i="0" dirty="0" err="1">
                <a:effectLst/>
                <a:latin typeface="Courier New" panose="02070309020205020404" pitchFamily="49" charset="0"/>
              </a:rPr>
              <a:t>buffer.getvalue</a:t>
            </a:r>
            <a:r>
              <a:rPr lang="en-CA" b="0" i="0" dirty="0">
                <a:effectLst/>
                <a:latin typeface="Courier New" panose="02070309020205020404" pitchFamily="49" charset="0"/>
              </a:rPr>
              <a:t>()</a:t>
            </a:r>
            <a:r>
              <a:rPr lang="en-CA" b="0" i="0" dirty="0">
                <a:effectLst/>
                <a:latin typeface="-apple-system"/>
              </a:rPr>
              <a:t> → reads all collected </a:t>
            </a:r>
            <a:r>
              <a:rPr lang="en-CA" b="0" i="0" dirty="0">
                <a:effectLst/>
                <a:latin typeface="Courier New" panose="02070309020205020404" pitchFamily="49" charset="0"/>
              </a:rPr>
              <a:t>print()</a:t>
            </a:r>
            <a:r>
              <a:rPr lang="en-CA" b="0" i="0" dirty="0">
                <a:effectLst/>
                <a:latin typeface="-apple-system"/>
              </a:rPr>
              <a:t> output from exec</a:t>
            </a:r>
          </a:p>
          <a:p>
            <a:pPr algn="l">
              <a:buFont typeface="Arial" panose="020B0604020202020204" pitchFamily="34" charset="0"/>
              <a:buChar char="•"/>
            </a:pPr>
            <a:r>
              <a:rPr lang="en-CA" b="0" i="0" dirty="0">
                <a:effectLst/>
                <a:latin typeface="-apple-system"/>
              </a:rPr>
              <a:t>Fallback string → if Claude's code ran but printed nothing (e.g. only made a chart), returns this instead of empty string</a:t>
            </a:r>
          </a:p>
          <a:p>
            <a:pPr algn="l">
              <a:buFont typeface="Arial" panose="020B0604020202020204" pitchFamily="34" charset="0"/>
              <a:buChar char="•"/>
            </a:pPr>
            <a:r>
              <a:rPr lang="en-CA" b="0" i="0" dirty="0">
                <a:effectLst/>
                <a:latin typeface="-apple-system"/>
              </a:rPr>
              <a:t>Empty string back to Claude = Claude thinks tool failed → fallback prevents confusion</a:t>
            </a:r>
          </a:p>
        </p:txBody>
      </p:sp>
    </p:spTree>
    <p:extLst>
      <p:ext uri="{BB962C8B-B14F-4D97-AF65-F5344CB8AC3E}">
        <p14:creationId xmlns:p14="http://schemas.microsoft.com/office/powerpoint/2010/main" val="3166342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C458CD-E414-513E-439E-F3AFFF0D6D18}"/>
              </a:ext>
            </a:extLst>
          </p:cNvPr>
          <p:cNvSpPr txBox="1"/>
          <p:nvPr/>
        </p:nvSpPr>
        <p:spPr>
          <a:xfrm>
            <a:off x="90616" y="89748"/>
            <a:ext cx="12010768" cy="1323439"/>
          </a:xfrm>
          <a:prstGeom prst="rect">
            <a:avLst/>
          </a:prstGeom>
          <a:solidFill>
            <a:schemeClr val="accent6">
              <a:lumMod val="20000"/>
              <a:lumOff val="80000"/>
            </a:schemeClr>
          </a:solidFill>
        </p:spPr>
        <p:txBody>
          <a:bodyPr wrap="square">
            <a:spAutoFit/>
          </a:bodyPr>
          <a:lstStyle/>
          <a:p>
            <a:pPr algn="l">
              <a:buNone/>
            </a:pPr>
            <a:r>
              <a:rPr lang="en-CA" sz="1600" b="1" i="0" dirty="0">
                <a:effectLst/>
                <a:latin typeface="Courier New" panose="02070309020205020404" pitchFamily="49" charset="0"/>
              </a:rPr>
              <a:t>except Exception as e: return </a:t>
            </a:r>
            <a:r>
              <a:rPr lang="en-CA" sz="1600" b="1" i="0" dirty="0" err="1">
                <a:effectLst/>
                <a:latin typeface="Courier New" panose="02070309020205020404" pitchFamily="49" charset="0"/>
              </a:rPr>
              <a:t>f"Error</a:t>
            </a:r>
            <a:r>
              <a:rPr lang="en-CA" sz="1600" b="1" i="0" dirty="0">
                <a:effectLst/>
                <a:latin typeface="Courier New" panose="02070309020205020404" pitchFamily="49" charset="0"/>
              </a:rPr>
              <a:t>:{type(e).__name__}:{e}"</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Catches any crash from </a:t>
            </a:r>
            <a:r>
              <a:rPr lang="en-CA" sz="1600" b="0" i="0" dirty="0">
                <a:effectLst/>
                <a:latin typeface="Courier New" panose="02070309020205020404" pitchFamily="49" charset="0"/>
              </a:rPr>
              <a:t>exec</a:t>
            </a:r>
            <a:r>
              <a:rPr lang="en-CA" sz="1600" b="0" i="0" dirty="0">
                <a:effectLst/>
                <a:latin typeface="-apple-system"/>
              </a:rPr>
              <a:t> — </a:t>
            </a:r>
            <a:r>
              <a:rPr lang="en-CA" sz="1600" b="0" i="0" dirty="0" err="1">
                <a:effectLst/>
                <a:latin typeface="-apple-system"/>
              </a:rPr>
              <a:t>KeyError</a:t>
            </a:r>
            <a:r>
              <a:rPr lang="en-CA" sz="1600" b="0" i="0" dirty="0">
                <a:effectLst/>
                <a:latin typeface="-apple-system"/>
              </a:rPr>
              <a:t>, </a:t>
            </a:r>
            <a:r>
              <a:rPr lang="en-CA" sz="1600" b="0" i="0" dirty="0" err="1">
                <a:effectLst/>
                <a:latin typeface="-apple-system"/>
              </a:rPr>
              <a:t>NameError</a:t>
            </a:r>
            <a:r>
              <a:rPr lang="en-CA" sz="1600" b="0" i="0" dirty="0">
                <a:effectLst/>
                <a:latin typeface="-apple-system"/>
              </a:rPr>
              <a:t>, </a:t>
            </a:r>
            <a:r>
              <a:rPr lang="en-CA" sz="1600" b="0" i="0" dirty="0" err="1">
                <a:effectLst/>
                <a:latin typeface="-apple-system"/>
              </a:rPr>
              <a:t>SyntaxError</a:t>
            </a:r>
            <a:r>
              <a:rPr lang="en-CA" sz="1600" b="0" i="0" dirty="0">
                <a:effectLst/>
                <a:latin typeface="-apple-system"/>
              </a:rPr>
              <a:t>, anything</a:t>
            </a:r>
          </a:p>
          <a:p>
            <a:pPr algn="l">
              <a:buFont typeface="Arial" panose="020B0604020202020204" pitchFamily="34" charset="0"/>
              <a:buChar char="•"/>
            </a:pPr>
            <a:r>
              <a:rPr lang="en-CA" sz="1600" b="0" i="0" dirty="0">
                <a:effectLst/>
                <a:latin typeface="-apple-system"/>
              </a:rPr>
              <a:t>Formats it as a readable string e.g. </a:t>
            </a:r>
            <a:r>
              <a:rPr lang="en-CA" sz="1600" b="0" i="0" dirty="0" err="1">
                <a:effectLst/>
                <a:latin typeface="Courier New" panose="02070309020205020404" pitchFamily="49" charset="0"/>
              </a:rPr>
              <a:t>Error:KeyError</a:t>
            </a:r>
            <a:r>
              <a:rPr lang="en-CA" sz="1600" b="0" i="0" dirty="0">
                <a:effectLst/>
                <a:latin typeface="Courier New" panose="02070309020205020404" pitchFamily="49" charset="0"/>
              </a:rPr>
              <a:t>:'</a:t>
            </a:r>
            <a:r>
              <a:rPr lang="en-CA" sz="1600" b="0" i="0" dirty="0" err="1">
                <a:effectLst/>
                <a:latin typeface="Courier New" panose="02070309020205020404" pitchFamily="49" charset="0"/>
              </a:rPr>
              <a:t>Province_Name</a:t>
            </a:r>
            <a:r>
              <a:rPr lang="en-CA" sz="1600" b="0" i="0" dirty="0">
                <a:effectLst/>
                <a:latin typeface="Courier New" panose="02070309020205020404" pitchFamily="49" charset="0"/>
              </a:rPr>
              <a:t>'</a:t>
            </a:r>
            <a:endParaRPr lang="en-CA" sz="1600" b="0" i="0" dirty="0">
              <a:effectLst/>
              <a:latin typeface="-apple-system"/>
            </a:endParaRPr>
          </a:p>
          <a:p>
            <a:pPr algn="l">
              <a:buFont typeface="Arial" panose="020B0604020202020204" pitchFamily="34" charset="0"/>
              <a:buChar char="•"/>
            </a:pPr>
            <a:r>
              <a:rPr lang="en-CA" sz="1600" b="0" i="0" dirty="0">
                <a:effectLst/>
                <a:latin typeface="-apple-system"/>
              </a:rPr>
              <a:t>Returns error string instead of crashing your program</a:t>
            </a:r>
          </a:p>
          <a:p>
            <a:pPr algn="l">
              <a:buFont typeface="Arial" panose="020B0604020202020204" pitchFamily="34" charset="0"/>
              <a:buChar char="•"/>
            </a:pPr>
            <a:r>
              <a:rPr lang="en-CA" sz="1600" b="0" i="0" dirty="0">
                <a:effectLst/>
                <a:latin typeface="-apple-system"/>
              </a:rPr>
              <a:t>Claude receives this as the tool result → reads it → fixes its code → tries again (the retry loop)</a:t>
            </a:r>
          </a:p>
        </p:txBody>
      </p:sp>
      <p:sp>
        <p:nvSpPr>
          <p:cNvPr id="4" name="Rectangle 1">
            <a:extLst>
              <a:ext uri="{FF2B5EF4-FFF2-40B4-BE49-F238E27FC236}">
                <a16:creationId xmlns:a16="http://schemas.microsoft.com/office/drawing/2014/main" id="{02F7941E-C43C-58FC-E6DD-8A91ACB8FD8B}"/>
              </a:ext>
            </a:extLst>
          </p:cNvPr>
          <p:cNvSpPr>
            <a:spLocks noChangeArrowheads="1"/>
          </p:cNvSpPr>
          <p:nvPr/>
        </p:nvSpPr>
        <p:spPr bwMode="auto">
          <a:xfrm>
            <a:off x="90616" y="1504547"/>
            <a:ext cx="12010768" cy="1723549"/>
          </a:xfrm>
          <a:prstGeom prst="rect">
            <a:avLst/>
          </a:prstGeom>
          <a:solidFill>
            <a:schemeClr val="accent1">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FULL </a:t>
            </a:r>
            <a:r>
              <a:rPr kumimoji="0" lang="en-US" altLang="en-US" sz="1600" b="1" i="0" u="none" strike="noStrike" cap="none" normalizeH="0" baseline="0" dirty="0" err="1">
                <a:ln>
                  <a:noFill/>
                </a:ln>
                <a:effectLst/>
                <a:latin typeface="Courier New" panose="02070309020205020404" pitchFamily="49" charset="0"/>
              </a:rPr>
              <a:t>run_python</a:t>
            </a:r>
            <a:r>
              <a:rPr kumimoji="0" lang="en-US" altLang="en-US" sz="1600" b="1" i="0" u="none" strike="noStrike" cap="none" normalizeH="0" baseline="0" dirty="0">
                <a:ln>
                  <a:noFill/>
                </a:ln>
                <a:effectLst/>
                <a:latin typeface="Courier New" panose="02070309020205020404" pitchFamily="49" charset="0"/>
              </a:rPr>
              <a:t>()</a:t>
            </a:r>
            <a:r>
              <a:rPr kumimoji="0" lang="en-US" altLang="en-US" sz="1600" b="1" i="0" u="none" strike="noStrike" cap="none" normalizeH="0" baseline="0" dirty="0">
                <a:ln>
                  <a:noFill/>
                </a:ln>
                <a:effectLst/>
                <a:latin typeface="-apple-system"/>
              </a:rPr>
              <a:t> FLOW</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Courier New" panose="02070309020205020404" pitchFamily="49" charset="0"/>
              </a:rPr>
              <a:t>   </a:t>
            </a:r>
            <a:r>
              <a:rPr kumimoji="0" lang="en-US" altLang="en-US" sz="1600" b="0" i="0" u="none" strike="noStrike" cap="none" normalizeH="0" baseline="0" dirty="0">
                <a:ln>
                  <a:noFill/>
                </a:ln>
                <a:effectLst/>
                <a:latin typeface="Courier New" panose="02070309020205020404" pitchFamily="49" charset="0"/>
              </a:rPr>
              <a:t>Claude's code string arrives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exec runs it inside restricted scope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pd, </a:t>
            </a:r>
            <a:r>
              <a:rPr kumimoji="0" lang="en-US" altLang="en-US" sz="1600" b="0" i="0" u="none" strike="noStrike" cap="none" normalizeH="0" baseline="0" dirty="0" err="1">
                <a:ln>
                  <a:noFill/>
                </a:ln>
                <a:effectLst/>
                <a:latin typeface="Courier New" panose="02070309020205020404" pitchFamily="49" charset="0"/>
              </a:rPr>
              <a:t>plt</a:t>
            </a:r>
            <a:r>
              <a:rPr kumimoji="0" lang="en-US" altLang="en-US" sz="1600" b="0" i="0" u="none" strike="noStrike" cap="none" normalizeH="0" baseline="0" dirty="0">
                <a:ln>
                  <a:noFill/>
                </a:ln>
                <a:effectLst/>
                <a:latin typeface="Courier New" panose="02070309020205020404" pitchFamily="49" charset="0"/>
              </a:rPr>
              <a:t> only)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latin typeface="Courier New" panose="02070309020205020404" pitchFamily="49" charset="0"/>
              </a:rPr>
              <a:t>     </a:t>
            </a:r>
            <a:r>
              <a:rPr kumimoji="0" lang="en-US" altLang="en-US" sz="1600" b="0" i="0" u="none" strike="noStrike" cap="none" normalizeH="0" baseline="0" dirty="0">
                <a:ln>
                  <a:noFill/>
                </a:ln>
                <a:effectLst/>
                <a:latin typeface="Courier New" panose="02070309020205020404" pitchFamily="49" charset="0"/>
              </a:rPr>
              <a:t>┌─ success? → </a:t>
            </a:r>
            <a:r>
              <a:rPr kumimoji="0" lang="en-US" altLang="en-US" sz="1600" b="0" i="0" u="none" strike="noStrike" cap="none" normalizeH="0" baseline="0" dirty="0" err="1">
                <a:ln>
                  <a:noFill/>
                </a:ln>
                <a:effectLst/>
                <a:latin typeface="Courier New" panose="02070309020205020404" pitchFamily="49" charset="0"/>
              </a:rPr>
              <a:t>buffer.getvalue</a:t>
            </a:r>
            <a:r>
              <a:rPr kumimoji="0" lang="en-US" altLang="en-US" sz="1600" b="0" i="0" u="none" strike="noStrike" cap="none" normalizeH="0" baseline="0" dirty="0">
                <a:ln>
                  <a:noFill/>
                </a:ln>
                <a:effectLst/>
                <a:latin typeface="Courier New" panose="02070309020205020404" pitchFamily="49" charset="0"/>
              </a:rPr>
              <a:t>() → returned to Claude as result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 error? → error string → returned to Claude to fix</a:t>
            </a:r>
            <a:endParaRPr kumimoji="0" lang="en-US" altLang="en-US" sz="1600" b="0" i="0" u="none" strike="noStrike" cap="none" normalizeH="0" baseline="0" dirty="0">
              <a:ln>
                <a:noFill/>
              </a:ln>
              <a:effectLst/>
            </a:endParaRPr>
          </a:p>
        </p:txBody>
      </p:sp>
      <p:sp>
        <p:nvSpPr>
          <p:cNvPr id="6" name="TextBox 5">
            <a:extLst>
              <a:ext uri="{FF2B5EF4-FFF2-40B4-BE49-F238E27FC236}">
                <a16:creationId xmlns:a16="http://schemas.microsoft.com/office/drawing/2014/main" id="{8FB1546D-1252-B76C-977F-3437AE44F9A9}"/>
              </a:ext>
            </a:extLst>
          </p:cNvPr>
          <p:cNvSpPr txBox="1"/>
          <p:nvPr/>
        </p:nvSpPr>
        <p:spPr>
          <a:xfrm>
            <a:off x="90616" y="3319456"/>
            <a:ext cx="12010768" cy="1323439"/>
          </a:xfrm>
          <a:prstGeom prst="rect">
            <a:avLst/>
          </a:prstGeom>
          <a:solidFill>
            <a:schemeClr val="bg2">
              <a:lumMod val="90000"/>
            </a:schemeClr>
          </a:solidFill>
        </p:spPr>
        <p:txBody>
          <a:bodyPr wrap="square">
            <a:spAutoFit/>
          </a:bodyPr>
          <a:lstStyle/>
          <a:p>
            <a:pPr algn="l">
              <a:buNone/>
            </a:pPr>
            <a:r>
              <a:rPr lang="en-CA" sz="1600" b="1" i="0" dirty="0">
                <a:effectLst/>
                <a:latin typeface="-apple-system"/>
              </a:rPr>
              <a:t>KEY INSIGHT</a:t>
            </a:r>
            <a:endParaRPr lang="en-CA" sz="1600" b="0" i="0" dirty="0">
              <a:effectLst/>
              <a:latin typeface="-apple-system"/>
            </a:endParaRPr>
          </a:p>
          <a:p>
            <a:pPr algn="l">
              <a:buFont typeface="Arial" panose="020B0604020202020204" pitchFamily="34" charset="0"/>
              <a:buChar char="•"/>
            </a:pPr>
            <a:r>
              <a:rPr lang="en-CA" sz="1600" b="0" i="0" dirty="0" err="1">
                <a:effectLst/>
                <a:latin typeface="Courier New" panose="02070309020205020404" pitchFamily="49" charset="0"/>
              </a:rPr>
              <a:t>run_python</a:t>
            </a:r>
            <a:r>
              <a:rPr lang="en-CA" sz="1600" b="0" i="0" dirty="0">
                <a:effectLst/>
                <a:latin typeface="Courier New" panose="02070309020205020404" pitchFamily="49" charset="0"/>
              </a:rPr>
              <a:t>()</a:t>
            </a:r>
            <a:r>
              <a:rPr lang="en-CA" sz="1600" b="0" i="0" dirty="0">
                <a:effectLst/>
                <a:latin typeface="-apple-system"/>
              </a:rPr>
              <a:t> never knows what question was asked or what Claude is thinking</a:t>
            </a:r>
          </a:p>
          <a:p>
            <a:pPr algn="l">
              <a:buFont typeface="Arial" panose="020B0604020202020204" pitchFamily="34" charset="0"/>
              <a:buChar char="•"/>
            </a:pPr>
            <a:r>
              <a:rPr lang="en-CA" sz="1600" b="0" i="0" dirty="0">
                <a:effectLst/>
                <a:latin typeface="-apple-system"/>
              </a:rPr>
              <a:t>It only does one thing: run a string of code and return what happened</a:t>
            </a:r>
          </a:p>
          <a:p>
            <a:pPr algn="l">
              <a:buFont typeface="Arial" panose="020B0604020202020204" pitchFamily="34" charset="0"/>
              <a:buChar char="•"/>
            </a:pPr>
            <a:r>
              <a:rPr lang="en-CA" sz="1600" b="0" i="0" dirty="0">
                <a:effectLst/>
                <a:latin typeface="-apple-system"/>
              </a:rPr>
              <a:t>All the intelligence (writing the code, fixing errors, interpreting results) stays with Claude</a:t>
            </a:r>
          </a:p>
          <a:p>
            <a:pPr algn="l">
              <a:buFont typeface="Arial" panose="020B0604020202020204" pitchFamily="34" charset="0"/>
              <a:buChar char="•"/>
            </a:pPr>
            <a:r>
              <a:rPr lang="en-CA" sz="1600" b="0" i="0" dirty="0">
                <a:effectLst/>
                <a:latin typeface="-apple-system"/>
              </a:rPr>
              <a:t>All the execution (actually running Python) stays with your app</a:t>
            </a:r>
          </a:p>
        </p:txBody>
      </p:sp>
    </p:spTree>
    <p:extLst>
      <p:ext uri="{BB962C8B-B14F-4D97-AF65-F5344CB8AC3E}">
        <p14:creationId xmlns:p14="http://schemas.microsoft.com/office/powerpoint/2010/main" val="351053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E90D81-2EF4-7542-528C-87D42F3E6813}"/>
              </a:ext>
            </a:extLst>
          </p:cNvPr>
          <p:cNvSpPr>
            <a:spLocks noChangeArrowheads="1"/>
          </p:cNvSpPr>
          <p:nvPr/>
        </p:nvSpPr>
        <p:spPr bwMode="auto">
          <a:xfrm>
            <a:off x="3526023" y="0"/>
            <a:ext cx="4598888" cy="477054"/>
          </a:xfrm>
          <a:prstGeom prst="rect">
            <a:avLst/>
          </a:prstGeom>
          <a:noFill/>
          <a:ln>
            <a:noFill/>
          </a:ln>
          <a:effec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effectLst/>
                <a:latin typeface="-apple-system"/>
              </a:rPr>
              <a:t>How Claude Decides &amp; Thinks</a:t>
            </a:r>
            <a:endParaRPr kumimoji="0" lang="en-US" altLang="en-US" sz="2800" b="1" i="0" u="none" strike="noStrike" cap="none" normalizeH="0" baseline="0" dirty="0">
              <a:ln>
                <a:noFill/>
              </a:ln>
              <a:effectLst/>
              <a:latin typeface="Arial" panose="020B0604020202020204" pitchFamily="34" charset="0"/>
            </a:endParaRPr>
          </a:p>
        </p:txBody>
      </p:sp>
      <p:sp>
        <p:nvSpPr>
          <p:cNvPr id="4" name="Rectangle 3">
            <a:extLst>
              <a:ext uri="{FF2B5EF4-FFF2-40B4-BE49-F238E27FC236}">
                <a16:creationId xmlns:a16="http://schemas.microsoft.com/office/drawing/2014/main" id="{EF37D49B-1AA1-8579-7500-D3B6F20CB65D}"/>
              </a:ext>
            </a:extLst>
          </p:cNvPr>
          <p:cNvSpPr>
            <a:spLocks noChangeArrowheads="1"/>
          </p:cNvSpPr>
          <p:nvPr/>
        </p:nvSpPr>
        <p:spPr bwMode="auto">
          <a:xfrm>
            <a:off x="69272" y="477054"/>
            <a:ext cx="12053455" cy="1969770"/>
          </a:xfrm>
          <a:prstGeom prst="rect">
            <a:avLst/>
          </a:prstGeom>
          <a:solidFill>
            <a:schemeClr val="bg2">
              <a:lumMod val="9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HOW CLAUDE DECIDES WHETHER TO WRITE CODE</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Three inputs weighed simultaneously:</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System prompt → "When asked a question, call </a:t>
            </a:r>
            <a:r>
              <a:rPr kumimoji="0" lang="en-US" altLang="en-US" sz="1600" b="0" i="0" u="none" strike="noStrike" cap="none" normalizeH="0" baseline="0" dirty="0" err="1">
                <a:ln>
                  <a:noFill/>
                </a:ln>
                <a:effectLst/>
                <a:latin typeface="Courier New" panose="02070309020205020404" pitchFamily="49" charset="0"/>
              </a:rPr>
              <a:t>run_python</a:t>
            </a:r>
            <a:r>
              <a:rPr kumimoji="0" lang="en-US" altLang="en-US" sz="1600" b="0" i="0" u="none" strike="noStrike" cap="none" normalizeH="0" baseline="0" dirty="0">
                <a:ln>
                  <a:noFill/>
                </a:ln>
                <a:effectLst/>
                <a:latin typeface="Courier New" panose="02070309020205020404" pitchFamily="49" charset="0"/>
              </a:rPr>
              <a:t>" — strong bias toward tool use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Question itself → Claude classifies: does this need data? does it need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Tool description → Claude matches question against "analyze the </a:t>
            </a:r>
            <a:r>
              <a:rPr kumimoji="0" lang="en-US" altLang="en-US" sz="1600" b="0" i="0" u="none" strike="noStrike" cap="none" normalizeH="0" baseline="0" dirty="0" err="1">
                <a:ln>
                  <a:noFill/>
                </a:ln>
                <a:effectLst/>
                <a:latin typeface="Courier New" panose="02070309020205020404" pitchFamily="49" charset="0"/>
              </a:rPr>
              <a:t>dataframe</a:t>
            </a:r>
            <a:r>
              <a:rPr kumimoji="0" lang="en-US" altLang="en-US" sz="1600" b="0" i="0" u="none" strike="noStrike" cap="none" normalizeH="0" baseline="0" dirty="0">
                <a:ln>
                  <a:noFill/>
                </a:ln>
                <a:effectLst/>
                <a:latin typeface="Courier New" panose="02070309020205020404" pitchFamily="49" charset="0"/>
              </a:rPr>
              <a:t>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"Which province has the highest value?" → needs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 use tool → write code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"Tell me the time" → doesn't need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 answer directly → no code</a:t>
            </a:r>
            <a:endParaRPr kumimoji="0" lang="en-US" altLang="en-US" sz="1600" b="0" i="0" u="none" strike="noStrike" cap="none" normalizeH="0" baseline="0" dirty="0">
              <a:ln>
                <a:noFill/>
              </a:ln>
              <a:effectLst/>
            </a:endParaRPr>
          </a:p>
        </p:txBody>
      </p:sp>
      <p:sp>
        <p:nvSpPr>
          <p:cNvPr id="5" name="Rectangle 4">
            <a:extLst>
              <a:ext uri="{FF2B5EF4-FFF2-40B4-BE49-F238E27FC236}">
                <a16:creationId xmlns:a16="http://schemas.microsoft.com/office/drawing/2014/main" id="{D775782A-5665-F3B7-159C-264D133BE429}"/>
              </a:ext>
            </a:extLst>
          </p:cNvPr>
          <p:cNvSpPr>
            <a:spLocks noChangeArrowheads="1"/>
          </p:cNvSpPr>
          <p:nvPr/>
        </p:nvSpPr>
        <p:spPr bwMode="auto">
          <a:xfrm>
            <a:off x="69272" y="2536008"/>
            <a:ext cx="12053455" cy="1477328"/>
          </a:xfrm>
          <a:prstGeom prst="rect">
            <a:avLst/>
          </a:prstGeom>
          <a:solidFill>
            <a:schemeClr val="accent1">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THE DECISION FLOWCHART INSIDE CLAUDE</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Read question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Does this need data from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YES → does </a:t>
            </a:r>
            <a:r>
              <a:rPr kumimoji="0" lang="en-US" altLang="en-US" sz="1600" b="0" i="0" u="none" strike="noStrike" cap="none" normalizeH="0" baseline="0" dirty="0" err="1">
                <a:ln>
                  <a:noFill/>
                </a:ln>
                <a:effectLst/>
                <a:latin typeface="Courier New" panose="02070309020205020404" pitchFamily="49" charset="0"/>
              </a:rPr>
              <a:t>run_python</a:t>
            </a:r>
            <a:r>
              <a:rPr kumimoji="0" lang="en-US" altLang="en-US" sz="1600" b="0" i="0" u="none" strike="noStrike" cap="none" normalizeH="0" baseline="0" dirty="0">
                <a:ln>
                  <a:noFill/>
                </a:ln>
                <a:effectLst/>
                <a:latin typeface="Courier New" panose="02070309020205020404" pitchFamily="49" charset="0"/>
              </a:rPr>
              <a:t> fit? → YES → write code → </a:t>
            </a:r>
            <a:r>
              <a:rPr kumimoji="0" lang="en-US" altLang="en-US" sz="1600" b="0" i="0" u="none" strike="noStrike" cap="none" normalizeH="0" baseline="0" dirty="0" err="1">
                <a:ln>
                  <a:noFill/>
                </a:ln>
                <a:effectLst/>
                <a:latin typeface="Courier New" panose="02070309020205020404" pitchFamily="49" charset="0"/>
              </a:rPr>
              <a:t>stop_reason</a:t>
            </a:r>
            <a:r>
              <a:rPr kumimoji="0" lang="en-US" altLang="en-US" sz="1600" b="0" i="0" u="none" strike="noStrike" cap="none" normalizeH="0" baseline="0" dirty="0">
                <a:ln>
                  <a:noFill/>
                </a:ln>
                <a:effectLst/>
                <a:latin typeface="Courier New" panose="02070309020205020404" pitchFamily="49" charset="0"/>
              </a:rPr>
              <a:t> = "</a:t>
            </a:r>
            <a:r>
              <a:rPr kumimoji="0" lang="en-US" altLang="en-US" sz="1600" b="0" i="0" u="none" strike="noStrike" cap="none" normalizeH="0" baseline="0" dirty="0" err="1">
                <a:ln>
                  <a:noFill/>
                </a:ln>
                <a:effectLst/>
                <a:latin typeface="Courier New" panose="02070309020205020404" pitchFamily="49" charset="0"/>
              </a:rPr>
              <a:t>tool_use</a:t>
            </a:r>
            <a:r>
              <a:rPr kumimoji="0" lang="en-US" altLang="en-US" sz="1600" b="0" i="0" u="none" strike="noStrike" cap="none" normalizeH="0" baseline="0" dirty="0">
                <a:ln>
                  <a:noFill/>
                </a:ln>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NO → can I answer directly? → YES → plain text → </a:t>
            </a:r>
            <a:r>
              <a:rPr kumimoji="0" lang="en-US" altLang="en-US" sz="1600" b="0" i="0" u="none" strike="noStrike" cap="none" normalizeH="0" baseline="0" dirty="0" err="1">
                <a:ln>
                  <a:noFill/>
                </a:ln>
                <a:effectLst/>
                <a:latin typeface="Courier New" panose="02070309020205020404" pitchFamily="49" charset="0"/>
              </a:rPr>
              <a:t>stop_reason</a:t>
            </a:r>
            <a:r>
              <a:rPr kumimoji="0" lang="en-US" altLang="en-US" sz="1600" b="0" i="0" u="none" strike="noStrike" cap="none" normalizeH="0" baseline="0" dirty="0">
                <a:ln>
                  <a:noFill/>
                </a:ln>
                <a:effectLst/>
                <a:latin typeface="Courier New" panose="02070309020205020404" pitchFamily="49" charset="0"/>
              </a:rPr>
              <a:t> = "</a:t>
            </a:r>
            <a:r>
              <a:rPr kumimoji="0" lang="en-US" altLang="en-US" sz="1600" b="0" i="0" u="none" strike="noStrike" cap="none" normalizeH="0" baseline="0" dirty="0" err="1">
                <a:ln>
                  <a:noFill/>
                </a:ln>
                <a:effectLst/>
                <a:latin typeface="Courier New" panose="02070309020205020404" pitchFamily="49" charset="0"/>
              </a:rPr>
              <a:t>end_turn</a:t>
            </a:r>
            <a:r>
              <a:rPr kumimoji="0" lang="en-US" altLang="en-US" sz="1600" b="0" i="0" u="none" strike="noStrike" cap="none" normalizeH="0" baseline="0" dirty="0">
                <a:ln>
                  <a:noFill/>
                </a:ln>
                <a:effectLst/>
                <a:latin typeface="Courier New" panose="02070309020205020404" pitchFamily="49" charset="0"/>
              </a:rPr>
              <a:t>"</a:t>
            </a:r>
            <a:endParaRPr kumimoji="0" lang="en-US" altLang="en-US" sz="1600" b="0" i="0" u="none" strike="noStrike" cap="none" normalizeH="0" baseline="0" dirty="0">
              <a:ln>
                <a:noFill/>
              </a:ln>
              <a:effectLst/>
            </a:endParaRPr>
          </a:p>
        </p:txBody>
      </p:sp>
      <p:sp>
        <p:nvSpPr>
          <p:cNvPr id="6" name="Rectangle 5">
            <a:extLst>
              <a:ext uri="{FF2B5EF4-FFF2-40B4-BE49-F238E27FC236}">
                <a16:creationId xmlns:a16="http://schemas.microsoft.com/office/drawing/2014/main" id="{BDE552A8-2B2B-66D6-79E4-231D2E849A5B}"/>
              </a:ext>
            </a:extLst>
          </p:cNvPr>
          <p:cNvSpPr>
            <a:spLocks noChangeArrowheads="1"/>
          </p:cNvSpPr>
          <p:nvPr/>
        </p:nvSpPr>
        <p:spPr bwMode="auto">
          <a:xfrm>
            <a:off x="69271" y="4164955"/>
            <a:ext cx="12053455" cy="2215991"/>
          </a:xfrm>
          <a:prstGeom prst="rect">
            <a:avLst/>
          </a:prstGeom>
          <a:solidFill>
            <a:schemeClr val="accent2">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HOW CLAUDE KNOWS WHAT CODE TO WRITE</a:t>
            </a:r>
            <a:endParaRPr kumimoji="0" lang="en-US" altLang="en-US" sz="1600" b="0" i="0" u="none" strike="noStrike" cap="none" normalizeH="0" baseline="0" dirty="0">
              <a:ln>
                <a:noFill/>
              </a:ln>
              <a:effectLst/>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effectLst/>
                <a:latin typeface="Courier New" panose="02070309020205020404" pitchFamily="49" charset="0"/>
              </a:rPr>
              <a:t>Real column names from system prompt → </a:t>
            </a:r>
            <a:r>
              <a:rPr kumimoji="0" lang="en-US" altLang="en-US" sz="1600" b="0" i="0" u="none" strike="noStrike" cap="none" normalizeH="0" baseline="0" dirty="0" err="1">
                <a:ln>
                  <a:noFill/>
                </a:ln>
                <a:effectLst/>
                <a:latin typeface="Courier New" panose="02070309020205020404" pitchFamily="49" charset="0"/>
              </a:rPr>
              <a:t>f"Its</a:t>
            </a:r>
            <a:r>
              <a:rPr kumimoji="0" lang="en-US" altLang="en-US" sz="1600" b="0" i="0" u="none" strike="noStrike" cap="none" normalizeH="0" baseline="0" dirty="0">
                <a:ln>
                  <a:noFill/>
                </a:ln>
                <a:effectLst/>
                <a:latin typeface="Courier New" panose="02070309020205020404" pitchFamily="49" charset="0"/>
              </a:rPr>
              <a:t> columns are: {list(</a:t>
            </a:r>
            <a:r>
              <a:rPr kumimoji="0" lang="en-US" altLang="en-US" sz="1600" b="0" i="0" u="none" strike="noStrike" cap="none" normalizeH="0" baseline="0" dirty="0" err="1">
                <a:ln>
                  <a:noFill/>
                </a:ln>
                <a:effectLst/>
                <a:latin typeface="Courier New" panose="02070309020205020404" pitchFamily="49" charset="0"/>
              </a:rPr>
              <a:t>df.columns</a:t>
            </a:r>
            <a:r>
              <a:rPr kumimoji="0" lang="en-US" altLang="en-US" sz="1600" b="0" i="0" u="none" strike="noStrike" cap="none" normalizeH="0" baseline="0" dirty="0">
                <a:ln>
                  <a:noFill/>
                </a:ln>
                <a:effectLst/>
                <a:latin typeface="Courier New" panose="02070309020205020404" pitchFamily="49" charset="0"/>
              </a:rPr>
              <a:t>)}" → Claude knows exactly what to query, no guessing </a:t>
            </a:r>
            <a:br>
              <a:rPr kumimoji="0" lang="en-US" altLang="en-US" sz="1600" b="0" i="0" u="none" strike="noStrike" cap="none" normalizeH="0" baseline="0" dirty="0">
                <a:ln>
                  <a:noFill/>
                </a:ln>
                <a:effectLst/>
                <a:latin typeface="Courier New" panose="02070309020205020404" pitchFamily="49" charset="0"/>
              </a:rPr>
            </a:br>
            <a:endParaRPr lang="en-US" altLang="en-US" sz="1600" dirty="0">
              <a:latin typeface="Courier New" panose="02070309020205020404" pitchFamily="49"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effectLst/>
                <a:latin typeface="Courier New" panose="02070309020205020404" pitchFamily="49" charset="0"/>
              </a:rPr>
              <a:t>The question itself → "highest value by province" maps to </a:t>
            </a:r>
            <a:r>
              <a:rPr kumimoji="0" lang="en-US" altLang="en-US" sz="1600" b="0" i="0" u="none" strike="noStrike" cap="none" normalizeH="0" baseline="0" dirty="0" err="1">
                <a:ln>
                  <a:noFill/>
                </a:ln>
                <a:effectLst/>
                <a:latin typeface="Courier New" panose="02070309020205020404" pitchFamily="49" charset="0"/>
              </a:rPr>
              <a:t>groupby</a:t>
            </a:r>
            <a:r>
              <a:rPr kumimoji="0" lang="en-US" altLang="en-US" sz="1600" b="0" i="0" u="none" strike="noStrike" cap="none" normalizeH="0" baseline="0" dirty="0">
                <a:ln>
                  <a:noFill/>
                </a:ln>
                <a:effectLst/>
                <a:latin typeface="Courier New" panose="02070309020205020404" pitchFamily="49" charset="0"/>
              </a:rPr>
              <a:t> + </a:t>
            </a:r>
            <a:r>
              <a:rPr kumimoji="0" lang="en-US" altLang="en-US" sz="1600" b="0" i="0" u="none" strike="noStrike" cap="none" normalizeH="0" baseline="0" dirty="0" err="1">
                <a:ln>
                  <a:noFill/>
                </a:ln>
                <a:effectLst/>
                <a:latin typeface="Courier New" panose="02070309020205020404" pitchFamily="49" charset="0"/>
              </a:rPr>
              <a:t>idxmax</a:t>
            </a:r>
            <a:r>
              <a:rPr kumimoji="0" lang="en-US" altLang="en-US" sz="1600" b="0" i="0" u="none" strike="noStrike" cap="none" normalizeH="0" baseline="0" dirty="0">
                <a:ln>
                  <a:noFill/>
                </a:ln>
                <a:effectLst/>
                <a:latin typeface="Courier New" panose="02070309020205020404" pitchFamily="49" charset="0"/>
              </a:rPr>
              <a:t> → Claude reads intent, not just keywords </a:t>
            </a:r>
            <a:br>
              <a:rPr kumimoji="0" lang="en-US" altLang="en-US" sz="1600" b="0" i="0" u="none" strike="noStrike" cap="none" normalizeH="0" baseline="0" dirty="0">
                <a:ln>
                  <a:noFill/>
                </a:ln>
                <a:effectLst/>
                <a:latin typeface="Courier New" panose="02070309020205020404" pitchFamily="49" charset="0"/>
              </a:rPr>
            </a:br>
            <a:endParaRPr kumimoji="0" lang="en-US" altLang="en-US" sz="1600" b="0" i="0" u="none" strike="noStrike" cap="none" normalizeH="0" baseline="0" dirty="0">
              <a:ln>
                <a:noFill/>
              </a:ln>
              <a:effectLst/>
              <a:latin typeface="Courier New" panose="02070309020205020404" pitchFamily="49"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effectLst/>
                <a:latin typeface="Courier New" panose="02070309020205020404" pitchFamily="49" charset="0"/>
              </a:rPr>
              <a:t>Training data → Claude has seen billions of pandas examples → "highest value by group" → </a:t>
            </a:r>
            <a:r>
              <a:rPr kumimoji="0" lang="en-US" altLang="en-US" sz="1600" b="0" i="0" u="none" strike="noStrike" cap="none" normalizeH="0" baseline="0" dirty="0" err="1">
                <a:ln>
                  <a:noFill/>
                </a:ln>
                <a:effectLst/>
                <a:latin typeface="Courier New" panose="02070309020205020404" pitchFamily="49" charset="0"/>
              </a:rPr>
              <a:t>groupby</a:t>
            </a:r>
            <a:r>
              <a:rPr kumimoji="0" lang="en-US" altLang="en-US" sz="1600" b="0" i="0" u="none" strike="noStrike" cap="none" normalizeH="0" baseline="0" dirty="0">
                <a:ln>
                  <a:noFill/>
                </a:ln>
                <a:effectLst/>
                <a:latin typeface="Courier New" panose="02070309020205020404" pitchFamily="49" charset="0"/>
              </a:rPr>
              <a:t> + </a:t>
            </a:r>
            <a:r>
              <a:rPr kumimoji="0" lang="en-US" altLang="en-US" sz="1600" b="0" i="0" u="none" strike="noStrike" cap="none" normalizeH="0" baseline="0" dirty="0" err="1">
                <a:ln>
                  <a:noFill/>
                </a:ln>
                <a:effectLst/>
                <a:latin typeface="Courier New" panose="02070309020205020404" pitchFamily="49" charset="0"/>
              </a:rPr>
              <a:t>idxmax</a:t>
            </a:r>
            <a:r>
              <a:rPr kumimoji="0" lang="en-US" altLang="en-US" sz="1600" b="0" i="0" u="none" strike="noStrike" cap="none" normalizeH="0" baseline="0" dirty="0">
                <a:ln>
                  <a:noFill/>
                </a:ln>
                <a:effectLst/>
                <a:latin typeface="Courier New" panose="02070309020205020404" pitchFamily="49" charset="0"/>
              </a:rPr>
              <a:t> is a known pattern</a:t>
            </a:r>
            <a:endParaRPr kumimoji="0" lang="en-US"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7009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C2FA29-3705-1B15-A366-000350F6BA37}"/>
              </a:ext>
            </a:extLst>
          </p:cNvPr>
          <p:cNvSpPr>
            <a:spLocks noChangeArrowheads="1"/>
          </p:cNvSpPr>
          <p:nvPr/>
        </p:nvSpPr>
        <p:spPr bwMode="auto">
          <a:xfrm>
            <a:off x="150472" y="400126"/>
            <a:ext cx="11933498" cy="1231106"/>
          </a:xfrm>
          <a:prstGeom prst="rect">
            <a:avLst/>
          </a:prstGeom>
          <a:solidFill>
            <a:schemeClr val="accent6">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CLAUDE'S INTERNAL THINKING (simplified)</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Step 1 — Understand: "User wants max value grouped by province"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Step 2 — Check tools: "</a:t>
            </a:r>
            <a:r>
              <a:rPr kumimoji="0" lang="en-US" altLang="en-US" sz="1600" b="0" i="0" u="none" strike="noStrike" cap="none" normalizeH="0" baseline="0" dirty="0" err="1">
                <a:ln>
                  <a:noFill/>
                </a:ln>
                <a:effectLst/>
                <a:latin typeface="Courier New" panose="02070309020205020404" pitchFamily="49" charset="0"/>
              </a:rPr>
              <a:t>run_python</a:t>
            </a:r>
            <a:r>
              <a:rPr kumimoji="0" lang="en-US" altLang="en-US" sz="1600" b="0" i="0" u="none" strike="noStrike" cap="none" normalizeH="0" baseline="0" dirty="0">
                <a:ln>
                  <a:noFill/>
                </a:ln>
                <a:effectLst/>
                <a:latin typeface="Courier New" panose="02070309020205020404" pitchFamily="49" charset="0"/>
              </a:rPr>
              <a:t> can query </a:t>
            </a:r>
            <a:r>
              <a:rPr kumimoji="0" lang="en-US" altLang="en-US" sz="1600" b="0" i="0" u="none" strike="noStrike" cap="none" normalizeH="0" baseline="0" dirty="0" err="1">
                <a:ln>
                  <a:noFill/>
                </a:ln>
                <a:effectLst/>
                <a:latin typeface="Courier New" panose="02070309020205020404" pitchFamily="49" charset="0"/>
              </a:rPr>
              <a:t>df</a:t>
            </a:r>
            <a:r>
              <a:rPr kumimoji="0" lang="en-US" altLang="en-US" sz="1600" b="0" i="0" u="none" strike="noStrike" cap="none" normalizeH="0" baseline="0" dirty="0">
                <a:ln>
                  <a:noFill/>
                </a:ln>
                <a:effectLst/>
                <a:latin typeface="Courier New" panose="02070309020205020404" pitchFamily="49" charset="0"/>
              </a:rPr>
              <a:t> → this is a data question → use it"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Step 3 — Write code: "</a:t>
            </a:r>
            <a:r>
              <a:rPr kumimoji="0" lang="en-US" altLang="en-US" sz="1600" b="0" i="0" u="none" strike="noStrike" cap="none" normalizeH="0" baseline="0" dirty="0" err="1">
                <a:ln>
                  <a:noFill/>
                </a:ln>
                <a:effectLst/>
                <a:latin typeface="Courier New" panose="02070309020205020404" pitchFamily="49" charset="0"/>
              </a:rPr>
              <a:t>groupby</a:t>
            </a:r>
            <a:r>
              <a:rPr kumimoji="0" lang="en-US" altLang="en-US" sz="1600" b="0" i="0" u="none" strike="noStrike" cap="none" normalizeH="0" baseline="0" dirty="0">
                <a:ln>
                  <a:noFill/>
                </a:ln>
                <a:effectLst/>
                <a:latin typeface="Courier New" panose="02070309020205020404" pitchFamily="49" charset="0"/>
              </a:rPr>
              <a:t> GEO, get VALUE, </a:t>
            </a:r>
            <a:r>
              <a:rPr kumimoji="0" lang="en-US" altLang="en-US" sz="1600" b="0" i="0" u="none" strike="noStrike" cap="none" normalizeH="0" baseline="0" dirty="0" err="1">
                <a:ln>
                  <a:noFill/>
                </a:ln>
                <a:effectLst/>
                <a:latin typeface="Courier New" panose="02070309020205020404" pitchFamily="49" charset="0"/>
              </a:rPr>
              <a:t>idxmax</a:t>
            </a:r>
            <a:r>
              <a:rPr kumimoji="0" lang="en-US" altLang="en-US" sz="1600" b="0" i="0" u="none" strike="noStrike" cap="none" normalizeH="0" baseline="0" dirty="0">
                <a:ln>
                  <a:noFill/>
                </a:ln>
                <a:effectLst/>
                <a:latin typeface="Courier New" panose="02070309020205020404" pitchFamily="49" charset="0"/>
              </a:rPr>
              <a:t>. print() result. </a:t>
            </a:r>
            <a:r>
              <a:rPr kumimoji="0" lang="en-US" altLang="en-US" sz="1600" b="0" i="0" u="none" strike="noStrike" cap="none" normalizeH="0" baseline="0" dirty="0" err="1">
                <a:ln>
                  <a:noFill/>
                </a:ln>
                <a:effectLst/>
                <a:latin typeface="Courier New" panose="02070309020205020404" pitchFamily="49" charset="0"/>
              </a:rPr>
              <a:t>savefig</a:t>
            </a:r>
            <a:r>
              <a:rPr kumimoji="0" lang="en-US" altLang="en-US" sz="1600" b="0" i="0" u="none" strike="noStrike" cap="none" normalizeH="0" baseline="0" dirty="0">
                <a:ln>
                  <a:noFill/>
                </a:ln>
                <a:effectLst/>
                <a:latin typeface="Courier New" panose="02070309020205020404" pitchFamily="49" charset="0"/>
              </a:rPr>
              <a:t>() if chart."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Step 4 — Return: </a:t>
            </a:r>
            <a:r>
              <a:rPr kumimoji="0" lang="en-US" altLang="en-US" sz="1600" b="0" i="0" u="none" strike="noStrike" cap="none" normalizeH="0" baseline="0" dirty="0" err="1">
                <a:ln>
                  <a:noFill/>
                </a:ln>
                <a:effectLst/>
                <a:latin typeface="Courier New" panose="02070309020205020404" pitchFamily="49" charset="0"/>
              </a:rPr>
              <a:t>tool_use</a:t>
            </a:r>
            <a:r>
              <a:rPr kumimoji="0" lang="en-US" altLang="en-US" sz="1600" b="0" i="0" u="none" strike="noStrike" cap="none" normalizeH="0" baseline="0" dirty="0">
                <a:ln>
                  <a:noFill/>
                </a:ln>
                <a:effectLst/>
                <a:latin typeface="Courier New" panose="02070309020205020404" pitchFamily="49" charset="0"/>
              </a:rPr>
              <a:t> block with code filled in </a:t>
            </a:r>
            <a:endParaRPr kumimoji="0" lang="en-US" altLang="en-US" sz="1600" b="0" i="0" u="none" strike="noStrike" cap="none" normalizeH="0" baseline="0" dirty="0">
              <a:ln>
                <a:noFill/>
              </a:ln>
              <a:effectLst/>
            </a:endParaRPr>
          </a:p>
        </p:txBody>
      </p:sp>
      <p:sp>
        <p:nvSpPr>
          <p:cNvPr id="4" name="Rectangle 3">
            <a:extLst>
              <a:ext uri="{FF2B5EF4-FFF2-40B4-BE49-F238E27FC236}">
                <a16:creationId xmlns:a16="http://schemas.microsoft.com/office/drawing/2014/main" id="{D70056E0-69FD-F8A4-5266-B92FAD183C9D}"/>
              </a:ext>
            </a:extLst>
          </p:cNvPr>
          <p:cNvSpPr>
            <a:spLocks noChangeArrowheads="1"/>
          </p:cNvSpPr>
          <p:nvPr/>
        </p:nvSpPr>
        <p:spPr bwMode="auto">
          <a:xfrm>
            <a:off x="150471" y="1946627"/>
            <a:ext cx="11933497" cy="1815882"/>
          </a:xfrm>
          <a:prstGeom prst="rect">
            <a:avLst/>
          </a:prstGeom>
          <a:solidFill>
            <a:schemeClr val="accent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IMPORTANT NUANCE</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Claude is </a:t>
            </a:r>
            <a:r>
              <a:rPr kumimoji="0" lang="en-US" altLang="en-US" sz="1600" b="1" i="0" u="none" strike="noStrike" cap="none" normalizeH="0" baseline="0" dirty="0">
                <a:ln>
                  <a:noFill/>
                </a:ln>
                <a:effectLst/>
                <a:latin typeface="-apple-system"/>
              </a:rPr>
              <a:t>not deterministic</a:t>
            </a:r>
            <a:r>
              <a:rPr kumimoji="0" lang="en-US" altLang="en-US" sz="1600" b="0" i="0" u="none" strike="noStrike" cap="none" normalizeH="0" baseline="0" dirty="0">
                <a:ln>
                  <a:noFill/>
                </a:ln>
                <a:effectLst/>
                <a:latin typeface="-apple-system"/>
              </a:rPr>
              <a:t> — same question twice may produce different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Different variable names, different pandas approach, same correct result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It's a language model making probabilistic decisions, not a compiler following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This is exactly why the retry loop exists — first attempt may be wrong, Claude reads the error and tries differently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400532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985960-7A32-0BF4-15DC-B29732E90343}"/>
              </a:ext>
            </a:extLst>
          </p:cNvPr>
          <p:cNvSpPr txBox="1"/>
          <p:nvPr/>
        </p:nvSpPr>
        <p:spPr>
          <a:xfrm>
            <a:off x="3015405" y="1956121"/>
            <a:ext cx="7285328" cy="707886"/>
          </a:xfrm>
          <a:prstGeom prst="rect">
            <a:avLst/>
          </a:prstGeom>
          <a:noFill/>
        </p:spPr>
        <p:txBody>
          <a:bodyPr wrap="none" rtlCol="0">
            <a:spAutoFit/>
          </a:bodyPr>
          <a:lstStyle/>
          <a:p>
            <a:r>
              <a:rPr lang="en-US" sz="4000" b="1" dirty="0"/>
              <a:t>Full Flow of the code: </a:t>
            </a:r>
            <a:r>
              <a:rPr lang="en-US" sz="4000" b="1" dirty="0" err="1"/>
              <a:t>Agent.py</a:t>
            </a:r>
            <a:endParaRPr lang="en-US" sz="4000" b="1" dirty="0"/>
          </a:p>
        </p:txBody>
      </p:sp>
      <p:sp>
        <p:nvSpPr>
          <p:cNvPr id="3" name="Rectangle 1">
            <a:extLst>
              <a:ext uri="{FF2B5EF4-FFF2-40B4-BE49-F238E27FC236}">
                <a16:creationId xmlns:a16="http://schemas.microsoft.com/office/drawing/2014/main" id="{BEC632D4-F5E6-8E30-B1AB-A43912180A0E}"/>
              </a:ext>
            </a:extLst>
          </p:cNvPr>
          <p:cNvSpPr>
            <a:spLocks noChangeArrowheads="1"/>
          </p:cNvSpPr>
          <p:nvPr/>
        </p:nvSpPr>
        <p:spPr bwMode="auto">
          <a:xfrm>
            <a:off x="208345" y="3176876"/>
            <a:ext cx="11898774" cy="1723549"/>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Before the loop — Setup</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Bottom of file triggers everything: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answer = ask("Which province has the highest value, and show it as a bar chart?") </a:t>
            </a:r>
            <a:endParaRPr kumimoji="0" lang="en-US" altLang="en-US" sz="1600" b="0" i="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ask()</a:t>
            </a:r>
            <a:r>
              <a:rPr kumimoji="0" lang="en-US" altLang="en-US" sz="1600" b="0" i="0" u="none" strike="noStrike" cap="none" normalizeH="0" baseline="0" dirty="0">
                <a:ln>
                  <a:noFill/>
                </a:ln>
                <a:effectLst/>
                <a:latin typeface="-apple-system"/>
              </a:rPr>
              <a:t> is called. Inside it:</a:t>
            </a:r>
            <a:endParaRPr kumimoji="0" lang="en-US" altLang="en-US" sz="1600" b="0" i="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system = "You are a data analyst... columns are: ['Province', 'Year', 'Value'...]"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messages = [ {"role": "user", "content": "Which province has the highest value?"} ] </a:t>
            </a:r>
            <a:endParaRPr kumimoji="0" lang="en-US" altLang="en-US" sz="1600" b="0" i="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Conversation history starts with just your question. Loop begins.</a:t>
            </a:r>
            <a:endParaRPr kumimoji="0" lang="en-US" altLang="en-US" sz="1600" b="0" i="0" u="none" strike="noStrike" cap="none" normalizeH="0" baseline="0" dirty="0">
              <a:ln>
                <a:noFill/>
              </a:ln>
              <a:effectLst/>
            </a:endParaRPr>
          </a:p>
        </p:txBody>
      </p:sp>
    </p:spTree>
    <p:extLst>
      <p:ext uri="{BB962C8B-B14F-4D97-AF65-F5344CB8AC3E}">
        <p14:creationId xmlns:p14="http://schemas.microsoft.com/office/powerpoint/2010/main" val="56959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C22580-462C-2911-8D1B-910655D8DCB3}"/>
              </a:ext>
            </a:extLst>
          </p:cNvPr>
          <p:cNvSpPr txBox="1"/>
          <p:nvPr/>
        </p:nvSpPr>
        <p:spPr>
          <a:xfrm>
            <a:off x="31595" y="547744"/>
            <a:ext cx="12128809" cy="6124754"/>
          </a:xfrm>
          <a:prstGeom prst="rect">
            <a:avLst/>
          </a:prstGeom>
          <a:solidFill>
            <a:schemeClr val="accent4">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apple-system"/>
              </a:rPr>
              <a:t>Step 1: Your script calls Claude</a:t>
            </a:r>
            <a:endParaRPr kumimoji="0" lang="en-US" altLang="en-US" sz="1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Courier New" panose="02070309020205020404" pitchFamily="49" charset="0"/>
              </a:rPr>
              <a:t>response = </a:t>
            </a:r>
            <a:r>
              <a:rPr kumimoji="0" lang="en-US" altLang="en-US" sz="1400" b="0" i="0" u="none" strike="noStrike" cap="none" normalizeH="0" baseline="0" dirty="0" err="1">
                <a:ln>
                  <a:noFill/>
                </a:ln>
                <a:effectLst/>
                <a:latin typeface="Courier New" panose="02070309020205020404" pitchFamily="49" charset="0"/>
              </a:rPr>
              <a:t>client.messages.create</a:t>
            </a:r>
            <a:r>
              <a:rPr kumimoji="0" lang="en-US" altLang="en-US" sz="1400" b="0" i="0" u="none" strike="noStrike" cap="none" normalizeH="0" baseline="0" dirty="0">
                <a:ln>
                  <a:noFill/>
                </a:ln>
                <a:effectLst/>
                <a:latin typeface="Courier New" panose="02070309020205020404" pitchFamily="49" charset="0"/>
              </a:rPr>
              <a:t>( system=system, tools=TOOLS, messages=messages # just your question so far ) </a:t>
            </a:r>
          </a:p>
          <a:p>
            <a:pPr lvl="0" eaLnBrk="0" fontAlgn="base" hangingPunct="0">
              <a:spcBef>
                <a:spcPct val="0"/>
              </a:spcBef>
              <a:spcAft>
                <a:spcPct val="0"/>
              </a:spcAft>
            </a:pPr>
            <a:r>
              <a:rPr lang="en-US" altLang="en-US" sz="1400" b="1" dirty="0">
                <a:latin typeface="-apple-system"/>
              </a:rPr>
              <a:t>Step 2: Claude on </a:t>
            </a:r>
            <a:r>
              <a:rPr lang="en-US" altLang="en-US" sz="1400" b="1" dirty="0" err="1">
                <a:latin typeface="-apple-system"/>
              </a:rPr>
              <a:t>Anthropic's</a:t>
            </a:r>
            <a:r>
              <a:rPr lang="en-US" altLang="en-US" sz="1400" b="1" dirty="0">
                <a:latin typeface="-apple-system"/>
              </a:rPr>
              <a:t> servers:</a:t>
            </a:r>
            <a:endParaRPr lang="en-US" altLang="en-US" sz="1400" dirty="0"/>
          </a:p>
          <a:p>
            <a:pPr lvl="0" eaLnBrk="0" fontAlgn="base" hangingPunct="0">
              <a:spcBef>
                <a:spcPct val="0"/>
              </a:spcBef>
              <a:spcAft>
                <a:spcPct val="0"/>
              </a:spcAft>
              <a:buFontTx/>
              <a:buChar char="•"/>
            </a:pPr>
            <a:r>
              <a:rPr lang="en-US" altLang="en-US" sz="1400" dirty="0">
                <a:latin typeface="-apple-system"/>
              </a:rPr>
              <a:t>reads your question</a:t>
            </a:r>
          </a:p>
          <a:p>
            <a:pPr lvl="0" eaLnBrk="0" fontAlgn="base" hangingPunct="0">
              <a:spcBef>
                <a:spcPct val="0"/>
              </a:spcBef>
              <a:spcAft>
                <a:spcPct val="0"/>
              </a:spcAft>
              <a:buFontTx/>
              <a:buChar char="•"/>
            </a:pPr>
            <a:r>
              <a:rPr lang="en-US" altLang="en-US" sz="1400" dirty="0">
                <a:latin typeface="-apple-system"/>
              </a:rPr>
              <a:t>reads the system prompt (knows real column names)</a:t>
            </a:r>
          </a:p>
          <a:p>
            <a:pPr lvl="0" eaLnBrk="0" fontAlgn="base" hangingPunct="0">
              <a:spcBef>
                <a:spcPct val="0"/>
              </a:spcBef>
              <a:spcAft>
                <a:spcPct val="0"/>
              </a:spcAft>
              <a:buFontTx/>
              <a:buChar char="•"/>
            </a:pPr>
            <a:r>
              <a:rPr lang="en-US" altLang="en-US" sz="1400" dirty="0">
                <a:latin typeface="-apple-system"/>
              </a:rPr>
              <a:t>reads </a:t>
            </a:r>
            <a:r>
              <a:rPr lang="en-US" altLang="en-US" sz="1400" dirty="0">
                <a:latin typeface="Courier New" panose="02070309020205020404" pitchFamily="49" charset="0"/>
              </a:rPr>
              <a:t>TOOLS</a:t>
            </a:r>
            <a:r>
              <a:rPr lang="en-US" altLang="en-US" sz="1400" dirty="0">
                <a:latin typeface="-apple-system"/>
              </a:rPr>
              <a:t> (knows </a:t>
            </a:r>
            <a:r>
              <a:rPr lang="en-US" altLang="en-US" sz="1400" dirty="0" err="1">
                <a:latin typeface="Courier New" panose="02070309020205020404" pitchFamily="49" charset="0"/>
              </a:rPr>
              <a:t>run_python</a:t>
            </a:r>
            <a:r>
              <a:rPr lang="en-US" altLang="en-US" sz="1400" dirty="0">
                <a:latin typeface="-apple-system"/>
              </a:rPr>
              <a:t> exists)</a:t>
            </a:r>
          </a:p>
          <a:p>
            <a:pPr lvl="0" eaLnBrk="0" fontAlgn="base" hangingPunct="0">
              <a:spcBef>
                <a:spcPct val="0"/>
              </a:spcBef>
              <a:spcAft>
                <a:spcPct val="0"/>
              </a:spcAft>
              <a:buFontTx/>
              <a:buChar char="•"/>
            </a:pPr>
            <a:r>
              <a:rPr lang="en-US" altLang="en-US" sz="1400" dirty="0">
                <a:latin typeface="-apple-system"/>
              </a:rPr>
              <a:t>decides: "I need to query </a:t>
            </a:r>
            <a:r>
              <a:rPr lang="en-US" altLang="en-US" sz="1400" dirty="0" err="1">
                <a:latin typeface="-apple-system"/>
              </a:rPr>
              <a:t>df</a:t>
            </a:r>
            <a:r>
              <a:rPr lang="en-US" altLang="en-US" sz="1400" dirty="0">
                <a:latin typeface="-apple-system"/>
              </a:rPr>
              <a:t> to answer this"</a:t>
            </a:r>
          </a:p>
          <a:p>
            <a:pPr lvl="0" eaLnBrk="0" fontAlgn="base" hangingPunct="0">
              <a:spcBef>
                <a:spcPct val="0"/>
              </a:spcBef>
              <a:spcAft>
                <a:spcPct val="0"/>
              </a:spcAft>
              <a:buFontTx/>
              <a:buChar char="•"/>
            </a:pPr>
            <a:r>
              <a:rPr lang="en-US" altLang="en-US" sz="1400" dirty="0">
                <a:latin typeface="-apple-system"/>
              </a:rPr>
              <a:t>writes Python code and returns it</a:t>
            </a:r>
          </a:p>
          <a:p>
            <a:pPr lvl="0" eaLnBrk="0" fontAlgn="base" hangingPunct="0">
              <a:spcBef>
                <a:spcPct val="0"/>
              </a:spcBef>
              <a:spcAft>
                <a:spcPct val="0"/>
              </a:spcAft>
            </a:pPr>
            <a:r>
              <a:rPr lang="en-US" altLang="en-US" sz="1400" b="1" dirty="0">
                <a:latin typeface="-apple-system"/>
              </a:rPr>
              <a:t>Step 3: Response comes back</a:t>
            </a:r>
            <a:endParaRPr lang="en-US" altLang="en-US" sz="1400" dirty="0"/>
          </a:p>
          <a:p>
            <a:pPr lvl="0" eaLnBrk="0" fontAlgn="base" hangingPunct="0">
              <a:spcBef>
                <a:spcPct val="0"/>
              </a:spcBef>
              <a:spcAft>
                <a:spcPct val="0"/>
              </a:spcAft>
            </a:pPr>
            <a:r>
              <a:rPr lang="en-US" altLang="en-US" sz="1400" dirty="0" err="1">
                <a:latin typeface="Courier New" panose="02070309020205020404" pitchFamily="49" charset="0"/>
              </a:rPr>
              <a:t>response.stop_reason</a:t>
            </a:r>
            <a:r>
              <a:rPr lang="en-US" altLang="en-US" sz="1400" dirty="0">
                <a:latin typeface="Courier New" panose="02070309020205020404" pitchFamily="49" charset="0"/>
              </a:rPr>
              <a:t> = "</a:t>
            </a:r>
            <a:r>
              <a:rPr lang="en-US" altLang="en-US" sz="1400" dirty="0" err="1">
                <a:latin typeface="Courier New" panose="02070309020205020404" pitchFamily="49" charset="0"/>
              </a:rPr>
              <a:t>tool_use</a:t>
            </a:r>
            <a:r>
              <a:rPr lang="en-US" altLang="en-US" sz="1400" dirty="0">
                <a:latin typeface="Courier New" panose="02070309020205020404" pitchFamily="49" charset="0"/>
              </a:rPr>
              <a:t>" </a:t>
            </a:r>
          </a:p>
          <a:p>
            <a:pPr lvl="0" eaLnBrk="0" fontAlgn="base" hangingPunct="0">
              <a:spcBef>
                <a:spcPct val="0"/>
              </a:spcBef>
              <a:spcAft>
                <a:spcPct val="0"/>
              </a:spcAft>
            </a:pPr>
            <a:r>
              <a:rPr lang="en-US" altLang="en-US" sz="1400" dirty="0" err="1">
                <a:latin typeface="Courier New" panose="02070309020205020404" pitchFamily="49" charset="0"/>
              </a:rPr>
              <a:t>response.content</a:t>
            </a:r>
            <a:r>
              <a:rPr lang="en-US" altLang="en-US" sz="1400" dirty="0">
                <a:latin typeface="Courier New" panose="02070309020205020404" pitchFamily="49" charset="0"/>
              </a:rPr>
              <a:t> = [ </a:t>
            </a:r>
            <a:r>
              <a:rPr lang="en-US" altLang="en-US" sz="1400" dirty="0" err="1">
                <a:latin typeface="Courier New" panose="02070309020205020404" pitchFamily="49" charset="0"/>
              </a:rPr>
              <a:t>tool_use</a:t>
            </a:r>
            <a:r>
              <a:rPr lang="en-US" altLang="en-US" sz="1400" dirty="0">
                <a:latin typeface="Courier New" panose="02070309020205020404" pitchFamily="49" charset="0"/>
              </a:rPr>
              <a:t> block: { id: "tool_123", name: "</a:t>
            </a:r>
            <a:r>
              <a:rPr lang="en-US" altLang="en-US" sz="1400" dirty="0" err="1">
                <a:latin typeface="Courier New" panose="02070309020205020404" pitchFamily="49" charset="0"/>
              </a:rPr>
              <a:t>run_python</a:t>
            </a:r>
            <a:r>
              <a:rPr lang="en-US" altLang="en-US" sz="1400" dirty="0">
                <a:latin typeface="Courier New" panose="02070309020205020404" pitchFamily="49" charset="0"/>
              </a:rPr>
              <a:t>", input: {"code": "result = </a:t>
            </a:r>
            <a:r>
              <a:rPr lang="en-US" altLang="en-US" sz="1400" dirty="0" err="1">
                <a:latin typeface="Courier New" panose="02070309020205020404" pitchFamily="49" charset="0"/>
              </a:rPr>
              <a:t>df.groupby</a:t>
            </a:r>
            <a:r>
              <a:rPr lang="en-US" altLang="en-US" sz="1400" dirty="0">
                <a:latin typeface="Courier New" panose="02070309020205020404" pitchFamily="49" charset="0"/>
              </a:rPr>
              <a:t>('GEO')['VALUE'].mean().</a:t>
            </a:r>
            <a:r>
              <a:rPr lang="en-US" altLang="en-US" sz="1400" dirty="0" err="1">
                <a:latin typeface="Courier New" panose="02070309020205020404" pitchFamily="49" charset="0"/>
              </a:rPr>
              <a:t>idxmax</a:t>
            </a:r>
            <a:r>
              <a:rPr lang="en-US" altLang="en-US" sz="1400" dirty="0">
                <a:latin typeface="Courier New" panose="02070309020205020404" pitchFamily="49" charset="0"/>
              </a:rPr>
              <a:t>()\</a:t>
            </a:r>
            <a:r>
              <a:rPr lang="en-US" altLang="en-US" sz="1400" dirty="0" err="1">
                <a:latin typeface="Courier New" panose="02070309020205020404" pitchFamily="49" charset="0"/>
              </a:rPr>
              <a:t>nprint</a:t>
            </a:r>
            <a:r>
              <a:rPr lang="en-US" altLang="en-US" sz="1400" dirty="0">
                <a:latin typeface="Courier New" panose="02070309020205020404" pitchFamily="49" charset="0"/>
              </a:rPr>
              <a:t>(result)"} } ] </a:t>
            </a:r>
            <a:endParaRPr lang="en-US" altLang="en-US" sz="1400" dirty="0"/>
          </a:p>
          <a:p>
            <a:pPr lvl="0" eaLnBrk="0" fontAlgn="base" hangingPunct="0">
              <a:spcBef>
                <a:spcPct val="0"/>
              </a:spcBef>
              <a:spcAft>
                <a:spcPct val="0"/>
              </a:spcAft>
            </a:pPr>
            <a:r>
              <a:rPr lang="en-US" altLang="en-US" sz="1400" b="1" dirty="0">
                <a:latin typeface="-apple-system"/>
              </a:rPr>
              <a:t>Step 4: Append to messages</a:t>
            </a:r>
            <a:endParaRPr lang="en-US" altLang="en-US" sz="1400" dirty="0"/>
          </a:p>
          <a:p>
            <a:pPr lvl="0" eaLnBrk="0" fontAlgn="base" hangingPunct="0">
              <a:spcBef>
                <a:spcPct val="0"/>
              </a:spcBef>
              <a:spcAft>
                <a:spcPct val="0"/>
              </a:spcAft>
            </a:pPr>
            <a:r>
              <a:rPr lang="en-US" altLang="en-US" sz="1400" dirty="0">
                <a:latin typeface="Courier New" panose="02070309020205020404" pitchFamily="49" charset="0"/>
              </a:rPr>
              <a:t>messages = [ {"role": "user", "content": "Which province has the highest value?"}, {"role": "assistant", "content": [</a:t>
            </a:r>
            <a:r>
              <a:rPr lang="en-US" altLang="en-US" sz="1400" dirty="0" err="1">
                <a:latin typeface="Courier New" panose="02070309020205020404" pitchFamily="49" charset="0"/>
              </a:rPr>
              <a:t>tool_use</a:t>
            </a:r>
            <a:r>
              <a:rPr lang="en-US" altLang="en-US" sz="1400" dirty="0">
                <a:latin typeface="Courier New" panose="02070309020205020404" pitchFamily="49" charset="0"/>
              </a:rPr>
              <a:t> block]}, ← added ] </a:t>
            </a:r>
            <a:endParaRPr lang="en-US" altLang="en-US" sz="1400" dirty="0"/>
          </a:p>
          <a:p>
            <a:pPr lvl="0" eaLnBrk="0" fontAlgn="base" hangingPunct="0">
              <a:spcBef>
                <a:spcPct val="0"/>
              </a:spcBef>
              <a:spcAft>
                <a:spcPct val="0"/>
              </a:spcAft>
            </a:pPr>
            <a:r>
              <a:rPr lang="en-US" altLang="en-US" sz="1400" b="1" dirty="0">
                <a:latin typeface="-apple-system"/>
              </a:rPr>
              <a:t>Step 5: Check </a:t>
            </a:r>
            <a:r>
              <a:rPr lang="en-US" altLang="en-US" sz="1400" b="1" dirty="0" err="1">
                <a:latin typeface="-apple-system"/>
              </a:rPr>
              <a:t>stop_reason</a:t>
            </a:r>
            <a:endParaRPr lang="en-US" altLang="en-US" sz="1400" dirty="0"/>
          </a:p>
          <a:p>
            <a:pPr lvl="0" eaLnBrk="0" fontAlgn="base" hangingPunct="0">
              <a:spcBef>
                <a:spcPct val="0"/>
              </a:spcBef>
              <a:spcAft>
                <a:spcPct val="0"/>
              </a:spcAft>
            </a:pPr>
            <a:r>
              <a:rPr lang="en-US" altLang="en-US" sz="1400" dirty="0">
                <a:latin typeface="Courier New" panose="02070309020205020404" pitchFamily="49" charset="0"/>
              </a:rPr>
              <a:t>if </a:t>
            </a:r>
            <a:r>
              <a:rPr lang="en-US" altLang="en-US" sz="1400" dirty="0" err="1">
                <a:latin typeface="Courier New" panose="02070309020205020404" pitchFamily="49" charset="0"/>
              </a:rPr>
              <a:t>response.stop_reason</a:t>
            </a:r>
            <a:r>
              <a:rPr lang="en-US" altLang="en-US" sz="1400" dirty="0">
                <a:latin typeface="Courier New" panose="02070309020205020404" pitchFamily="49" charset="0"/>
              </a:rPr>
              <a:t> != "</a:t>
            </a:r>
            <a:r>
              <a:rPr lang="en-US" altLang="en-US" sz="1400" dirty="0" err="1">
                <a:latin typeface="Courier New" panose="02070309020205020404" pitchFamily="49" charset="0"/>
              </a:rPr>
              <a:t>tool_use</a:t>
            </a:r>
            <a:r>
              <a:rPr lang="en-US" altLang="en-US" sz="1400" dirty="0">
                <a:latin typeface="Courier New" panose="02070309020205020404" pitchFamily="49" charset="0"/>
              </a:rPr>
              <a:t>": # False — it IS </a:t>
            </a:r>
            <a:r>
              <a:rPr lang="en-US" altLang="en-US" sz="1400" dirty="0" err="1">
                <a:latin typeface="Courier New" panose="02070309020205020404" pitchFamily="49" charset="0"/>
              </a:rPr>
              <a:t>tool_use</a:t>
            </a:r>
            <a:r>
              <a:rPr lang="en-US" altLang="en-US" sz="1400" dirty="0">
                <a:latin typeface="Courier New" panose="02070309020205020404" pitchFamily="49" charset="0"/>
              </a:rPr>
              <a:t> </a:t>
            </a:r>
            <a:endParaRPr lang="en-US" altLang="en-US" sz="1400" dirty="0"/>
          </a:p>
          <a:p>
            <a:pPr lvl="0" eaLnBrk="0" fontAlgn="base" hangingPunct="0">
              <a:spcBef>
                <a:spcPct val="0"/>
              </a:spcBef>
              <a:spcAft>
                <a:spcPct val="0"/>
              </a:spcAft>
            </a:pPr>
            <a:r>
              <a:rPr lang="en-US" altLang="en-US" sz="1400" dirty="0">
                <a:latin typeface="-apple-system"/>
              </a:rPr>
              <a:t>Loop does NOT exit. Continues.</a:t>
            </a:r>
            <a:endParaRPr lang="en-US" altLang="en-US" sz="1400" dirty="0"/>
          </a:p>
          <a:p>
            <a:pPr lvl="0" eaLnBrk="0" fontAlgn="base" hangingPunct="0">
              <a:spcBef>
                <a:spcPct val="0"/>
              </a:spcBef>
              <a:spcAft>
                <a:spcPct val="0"/>
              </a:spcAft>
            </a:pPr>
            <a:r>
              <a:rPr lang="en-US" altLang="en-US" sz="1400" b="1" dirty="0">
                <a:latin typeface="-apple-system"/>
              </a:rPr>
              <a:t>Step 6: Extract code and run it</a:t>
            </a:r>
            <a:endParaRPr lang="en-US" altLang="en-US" sz="1400" dirty="0"/>
          </a:p>
          <a:p>
            <a:pPr lvl="0" eaLnBrk="0" fontAlgn="base" hangingPunct="0">
              <a:spcBef>
                <a:spcPct val="0"/>
              </a:spcBef>
              <a:spcAft>
                <a:spcPct val="0"/>
              </a:spcAft>
            </a:pPr>
            <a:r>
              <a:rPr lang="en-US" altLang="en-US" sz="1400" dirty="0" err="1">
                <a:latin typeface="Courier New" panose="02070309020205020404" pitchFamily="49" charset="0"/>
              </a:rPr>
              <a:t>block.input</a:t>
            </a:r>
            <a:r>
              <a:rPr lang="en-US" altLang="en-US" sz="1400" dirty="0">
                <a:latin typeface="Courier New" panose="02070309020205020404" pitchFamily="49" charset="0"/>
              </a:rPr>
              <a:t>["code"] # → "result = </a:t>
            </a:r>
            <a:r>
              <a:rPr lang="en-US" altLang="en-US" sz="1400" dirty="0" err="1">
                <a:latin typeface="Courier New" panose="02070309020205020404" pitchFamily="49" charset="0"/>
              </a:rPr>
              <a:t>df.groupby</a:t>
            </a:r>
            <a:r>
              <a:rPr lang="en-US" altLang="en-US" sz="1400" dirty="0">
                <a:latin typeface="Courier New" panose="02070309020205020404" pitchFamily="49" charset="0"/>
              </a:rPr>
              <a:t>('GEO')['VALUE'].mean().</a:t>
            </a:r>
            <a:r>
              <a:rPr lang="en-US" altLang="en-US" sz="1400" dirty="0" err="1">
                <a:latin typeface="Courier New" panose="02070309020205020404" pitchFamily="49" charset="0"/>
              </a:rPr>
              <a:t>idxmax</a:t>
            </a:r>
            <a:r>
              <a:rPr lang="en-US" altLang="en-US" sz="1400" dirty="0">
                <a:latin typeface="Courier New" panose="02070309020205020404" pitchFamily="49" charset="0"/>
              </a:rPr>
              <a:t>()\</a:t>
            </a:r>
            <a:r>
              <a:rPr lang="en-US" altLang="en-US" sz="1400" dirty="0" err="1">
                <a:latin typeface="Courier New" panose="02070309020205020404" pitchFamily="49" charset="0"/>
              </a:rPr>
              <a:t>nprint</a:t>
            </a:r>
            <a:r>
              <a:rPr lang="en-US" altLang="en-US" sz="1400" dirty="0">
                <a:latin typeface="Courier New" panose="02070309020205020404" pitchFamily="49" charset="0"/>
              </a:rPr>
              <a:t>(result)" </a:t>
            </a:r>
          </a:p>
          <a:p>
            <a:pPr lvl="0" eaLnBrk="0" fontAlgn="base" hangingPunct="0">
              <a:spcBef>
                <a:spcPct val="0"/>
              </a:spcBef>
              <a:spcAft>
                <a:spcPct val="0"/>
              </a:spcAft>
            </a:pPr>
            <a:r>
              <a:rPr lang="en-US" altLang="en-US" sz="1400" dirty="0">
                <a:latin typeface="Courier New" panose="02070309020205020404" pitchFamily="49" charset="0"/>
              </a:rPr>
              <a:t>result = </a:t>
            </a:r>
            <a:r>
              <a:rPr lang="en-US" altLang="en-US" sz="1400" dirty="0" err="1">
                <a:latin typeface="Courier New" panose="02070309020205020404" pitchFamily="49" charset="0"/>
              </a:rPr>
              <a:t>run_python</a:t>
            </a:r>
            <a:r>
              <a:rPr lang="en-US" altLang="en-US" sz="1400" dirty="0">
                <a:latin typeface="Courier New" panose="02070309020205020404" pitchFamily="49" charset="0"/>
              </a:rPr>
              <a:t>(</a:t>
            </a:r>
            <a:r>
              <a:rPr lang="en-US" altLang="en-US" sz="1400" dirty="0" err="1">
                <a:latin typeface="Courier New" panose="02070309020205020404" pitchFamily="49" charset="0"/>
              </a:rPr>
              <a:t>block.input</a:t>
            </a:r>
            <a:r>
              <a:rPr lang="en-US" altLang="en-US" sz="1400" dirty="0">
                <a:latin typeface="Courier New" panose="02070309020205020404" pitchFamily="49" charset="0"/>
              </a:rPr>
              <a:t>["code"]) # → exec runs it → print fires → buffer captures "Ontario" # → returns "Ontario" </a:t>
            </a:r>
            <a:endParaRPr lang="en-US" altLang="en-US" sz="1400" dirty="0"/>
          </a:p>
          <a:p>
            <a:pPr lvl="0" eaLnBrk="0" fontAlgn="base" hangingPunct="0">
              <a:spcBef>
                <a:spcPct val="0"/>
              </a:spcBef>
              <a:spcAft>
                <a:spcPct val="0"/>
              </a:spcAft>
            </a:pPr>
            <a:r>
              <a:rPr lang="en-US" altLang="en-US" sz="1400" b="1" dirty="0">
                <a:latin typeface="-apple-system"/>
              </a:rPr>
              <a:t>Step 7: Package result and append</a:t>
            </a:r>
            <a:endParaRPr lang="en-US" altLang="en-US" sz="1400" dirty="0"/>
          </a:p>
          <a:p>
            <a:pPr lvl="0" eaLnBrk="0" fontAlgn="base" hangingPunct="0">
              <a:spcBef>
                <a:spcPct val="0"/>
              </a:spcBef>
              <a:spcAft>
                <a:spcPct val="0"/>
              </a:spcAft>
            </a:pPr>
            <a:r>
              <a:rPr lang="en-US" altLang="en-US" sz="1400" dirty="0" err="1">
                <a:latin typeface="Courier New" panose="02070309020205020404" pitchFamily="49" charset="0"/>
              </a:rPr>
              <a:t>tool_results</a:t>
            </a:r>
            <a:r>
              <a:rPr lang="en-US" altLang="en-US" sz="1400" dirty="0">
                <a:latin typeface="Courier New" panose="02070309020205020404" pitchFamily="49" charset="0"/>
              </a:rPr>
              <a:t> = [{ "type": "</a:t>
            </a:r>
            <a:r>
              <a:rPr lang="en-US" altLang="en-US" sz="1400" dirty="0" err="1">
                <a:latin typeface="Courier New" panose="02070309020205020404" pitchFamily="49" charset="0"/>
              </a:rPr>
              <a:t>tool_result</a:t>
            </a:r>
            <a:r>
              <a:rPr lang="en-US" altLang="en-US" sz="1400" dirty="0">
                <a:latin typeface="Courier New" panose="02070309020205020404" pitchFamily="49" charset="0"/>
              </a:rPr>
              <a:t>", "</a:t>
            </a:r>
            <a:r>
              <a:rPr lang="en-US" altLang="en-US" sz="1400" dirty="0" err="1">
                <a:latin typeface="Courier New" panose="02070309020205020404" pitchFamily="49" charset="0"/>
              </a:rPr>
              <a:t>tool_use_id</a:t>
            </a:r>
            <a:r>
              <a:rPr lang="en-US" altLang="en-US" sz="1400" dirty="0">
                <a:latin typeface="Courier New" panose="02070309020205020404" pitchFamily="49" charset="0"/>
              </a:rPr>
              <a:t>": "tool_123", ← matches Claude's tool call "content": "Ontario" }] </a:t>
            </a:r>
          </a:p>
          <a:p>
            <a:pPr lvl="0" eaLnBrk="0" fontAlgn="base" hangingPunct="0">
              <a:spcBef>
                <a:spcPct val="0"/>
              </a:spcBef>
              <a:spcAft>
                <a:spcPct val="0"/>
              </a:spcAft>
            </a:pPr>
            <a:r>
              <a:rPr lang="en-US" altLang="en-US" sz="1400" dirty="0">
                <a:latin typeface="Courier New" panose="02070309020205020404" pitchFamily="49" charset="0"/>
              </a:rPr>
              <a:t>messages = [ {"role": "user", "content": "Which province has the highest value?"}, {"role": "assistant", "content": [</a:t>
            </a:r>
            <a:r>
              <a:rPr lang="en-US" altLang="en-US" sz="1400" dirty="0" err="1">
                <a:latin typeface="Courier New" panose="02070309020205020404" pitchFamily="49" charset="0"/>
              </a:rPr>
              <a:t>tool_use</a:t>
            </a:r>
            <a:r>
              <a:rPr lang="en-US" altLang="en-US" sz="1400" dirty="0">
                <a:latin typeface="Courier New" panose="02070309020205020404" pitchFamily="49" charset="0"/>
              </a:rPr>
              <a:t> block]}, {"role": "user", "content": [</a:t>
            </a:r>
            <a:r>
              <a:rPr lang="en-US" altLang="en-US" sz="1400" dirty="0" err="1">
                <a:latin typeface="Courier New" panose="02070309020205020404" pitchFamily="49" charset="0"/>
              </a:rPr>
              <a:t>tool_result</a:t>
            </a:r>
            <a:r>
              <a:rPr lang="en-US" altLang="en-US" sz="1400" dirty="0">
                <a:latin typeface="Courier New" panose="02070309020205020404" pitchFamily="49" charset="0"/>
              </a:rPr>
              <a:t>: "Ontario"]}, ← added ] </a:t>
            </a:r>
            <a:endParaRPr lang="en-US" altLang="en-US" sz="1400" dirty="0"/>
          </a:p>
          <a:p>
            <a:pPr lvl="0" eaLnBrk="0" fontAlgn="base" hangingPunct="0">
              <a:spcBef>
                <a:spcPct val="0"/>
              </a:spcBef>
              <a:spcAft>
                <a:spcPct val="0"/>
              </a:spcAft>
            </a:pPr>
            <a:r>
              <a:rPr lang="en-US" altLang="en-US" sz="1400" dirty="0">
                <a:latin typeface="-apple-system"/>
              </a:rPr>
              <a:t>Loop goes back to the top. Iteration 2 begins.</a:t>
            </a:r>
            <a:endParaRPr lang="en-US" altLang="en-US" sz="1400" dirty="0"/>
          </a:p>
        </p:txBody>
      </p:sp>
      <p:sp>
        <p:nvSpPr>
          <p:cNvPr id="3" name="TextBox 2">
            <a:extLst>
              <a:ext uri="{FF2B5EF4-FFF2-40B4-BE49-F238E27FC236}">
                <a16:creationId xmlns:a16="http://schemas.microsoft.com/office/drawing/2014/main" id="{F6569C12-9256-B0B6-4B68-D2A296316930}"/>
              </a:ext>
            </a:extLst>
          </p:cNvPr>
          <p:cNvSpPr txBox="1"/>
          <p:nvPr/>
        </p:nvSpPr>
        <p:spPr>
          <a:xfrm>
            <a:off x="4114353" y="0"/>
            <a:ext cx="64008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effectLst/>
                <a:latin typeface="-apple-system"/>
              </a:rPr>
              <a:t>Iteration 1 — Claude writes code</a:t>
            </a:r>
          </a:p>
        </p:txBody>
      </p:sp>
    </p:spTree>
    <p:extLst>
      <p:ext uri="{BB962C8B-B14F-4D97-AF65-F5344CB8AC3E}">
        <p14:creationId xmlns:p14="http://schemas.microsoft.com/office/powerpoint/2010/main" val="2877361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8207A0-56D6-FA0A-7993-D8865C0F6803}"/>
              </a:ext>
            </a:extLst>
          </p:cNvPr>
          <p:cNvSpPr>
            <a:spLocks noChangeArrowheads="1"/>
          </p:cNvSpPr>
          <p:nvPr/>
        </p:nvSpPr>
        <p:spPr bwMode="auto">
          <a:xfrm>
            <a:off x="111888" y="474346"/>
            <a:ext cx="11968223" cy="5909310"/>
          </a:xfrm>
          <a:prstGeom prst="rect">
            <a:avLst/>
          </a:prstGeom>
          <a:solidFill>
            <a:schemeClr val="accent5">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Step 1: Your script calls Claude again</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response = </a:t>
            </a:r>
            <a:r>
              <a:rPr kumimoji="0" lang="en-US" altLang="en-US" sz="1600" b="0" i="0" u="none" strike="noStrike" cap="none" normalizeH="0" baseline="0" dirty="0" err="1">
                <a:ln>
                  <a:noFill/>
                </a:ln>
                <a:effectLst/>
                <a:latin typeface="Courier New" panose="02070309020205020404" pitchFamily="49" charset="0"/>
              </a:rPr>
              <a:t>client.messages.create</a:t>
            </a:r>
            <a:r>
              <a:rPr kumimoji="0" lang="en-US" altLang="en-US" sz="1600" b="0" i="0" u="none" strike="noStrike" cap="none" normalizeH="0" baseline="0" dirty="0">
                <a:ln>
                  <a:noFill/>
                </a:ln>
                <a:effectLst/>
                <a:latin typeface="Courier New" panose="02070309020205020404" pitchFamily="49" charset="0"/>
              </a:rPr>
              <a:t>( system=system, tools=TOOLS, messages=messages # now has full history — question + code + result ) </a:t>
            </a:r>
            <a:br>
              <a:rPr kumimoji="0" lang="en-US" altLang="en-US" sz="1600" b="0" i="0" u="none" strike="noStrike" cap="none" normalizeH="0" baseline="0" dirty="0">
                <a:ln>
                  <a:noFill/>
                </a:ln>
                <a:effectLst/>
                <a:latin typeface="Courier New" panose="02070309020205020404" pitchFamily="49" charset="0"/>
              </a:rPr>
            </a:b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Step 2: Claude on </a:t>
            </a:r>
            <a:r>
              <a:rPr kumimoji="0" lang="en-US" altLang="en-US" sz="1600" b="1" i="0" u="none" strike="noStrike" cap="none" normalizeH="0" baseline="0" dirty="0" err="1">
                <a:ln>
                  <a:noFill/>
                </a:ln>
                <a:effectLst/>
                <a:latin typeface="-apple-system"/>
              </a:rPr>
              <a:t>Anthropic's</a:t>
            </a:r>
            <a:r>
              <a:rPr kumimoji="0" lang="en-US" altLang="en-US" sz="1600" b="1" i="0" u="none" strike="noStrike" cap="none" normalizeH="0" baseline="0" dirty="0">
                <a:ln>
                  <a:noFill/>
                </a:ln>
                <a:effectLst/>
                <a:latin typeface="-apple-system"/>
              </a:rPr>
              <a:t> servers:</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reads the full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sees its own code from turn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sees the result "Ontario"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decides: "I have the answer, no more tool calls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effectLst/>
                <a:latin typeface="-apple-system"/>
              </a:rPr>
              <a:t>writes plain-English interpretation</a:t>
            </a:r>
            <a:br>
              <a:rPr kumimoji="0" lang="en-US" altLang="en-US" sz="1600" b="0" i="0" u="none" strike="noStrike" cap="none" normalizeH="0" baseline="0" dirty="0">
                <a:ln>
                  <a:noFill/>
                </a:ln>
                <a:effectLst/>
                <a:latin typeface="-apple-system"/>
              </a:rPr>
            </a:br>
            <a:endParaRPr kumimoji="0" lang="en-US" altLang="en-US" sz="1600" b="0" i="0" u="none" strike="noStrike" cap="none" normalizeH="0" baseline="0" dirty="0">
              <a:ln>
                <a:noFill/>
              </a:ln>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Step 3: Response comes back</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effectLst/>
                <a:latin typeface="Courier New" panose="02070309020205020404" pitchFamily="49" charset="0"/>
              </a:rPr>
              <a:t>response.stop_reason</a:t>
            </a:r>
            <a:r>
              <a:rPr kumimoji="0" lang="en-US" altLang="en-US" sz="1600" b="0" i="0" u="none" strike="noStrike" cap="none" normalizeH="0" baseline="0" dirty="0">
                <a:ln>
                  <a:noFill/>
                </a:ln>
                <a:effectLst/>
                <a:latin typeface="Courier New" panose="02070309020205020404" pitchFamily="49" charset="0"/>
              </a:rPr>
              <a:t> = "</a:t>
            </a:r>
            <a:r>
              <a:rPr kumimoji="0" lang="en-US" altLang="en-US" sz="1600" b="0" i="0" u="none" strike="noStrike" cap="none" normalizeH="0" baseline="0" dirty="0" err="1">
                <a:ln>
                  <a:noFill/>
                </a:ln>
                <a:effectLst/>
                <a:latin typeface="Courier New" panose="02070309020205020404" pitchFamily="49" charset="0"/>
              </a:rPr>
              <a:t>end_turn</a:t>
            </a:r>
            <a:r>
              <a:rPr kumimoji="0" lang="en-US" altLang="en-US" sz="1600" b="0" i="0" u="none" strike="noStrike" cap="none" normalizeH="0" baseline="0" dirty="0">
                <a:ln>
                  <a:noFill/>
                </a:ln>
                <a:effectLst/>
                <a:latin typeface="Courier New" panose="02070309020205020404" pitchFamily="49" charset="0"/>
              </a:rPr>
              <a:t>" </a:t>
            </a:r>
            <a:r>
              <a:rPr kumimoji="0" lang="en-US" altLang="en-US" sz="1600" b="0" i="0" u="none" strike="noStrike" cap="none" normalizeH="0" baseline="0" dirty="0" err="1">
                <a:ln>
                  <a:noFill/>
                </a:ln>
                <a:effectLst/>
                <a:latin typeface="Courier New" panose="02070309020205020404" pitchFamily="49" charset="0"/>
              </a:rPr>
              <a:t>response.content</a:t>
            </a:r>
            <a:r>
              <a:rPr kumimoji="0" lang="en-US" altLang="en-US" sz="1600" b="0" i="0" u="none" strike="noStrike" cap="none" normalizeH="0" baseline="0" dirty="0">
                <a:ln>
                  <a:noFill/>
                </a:ln>
                <a:effectLst/>
                <a:latin typeface="Courier New" panose="02070309020205020404" pitchFamily="49" charset="0"/>
              </a:rPr>
              <a:t> = [ text block: "Ontario has the highest average value at 42.3, significantly above the national average..." ] </a:t>
            </a:r>
            <a:br>
              <a:rPr kumimoji="0" lang="en-US" altLang="en-US" sz="1600" b="0" i="0" u="none" strike="noStrike" cap="none" normalizeH="0" baseline="0" dirty="0">
                <a:ln>
                  <a:noFill/>
                </a:ln>
                <a:effectLst/>
                <a:latin typeface="Courier New" panose="02070309020205020404" pitchFamily="49" charset="0"/>
              </a:rPr>
            </a:b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Step 4: Append to messages</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messages = [ {"role": "user", "content": "Which province has the highest value?"}, {"role": "assistant", "content": [</a:t>
            </a:r>
            <a:r>
              <a:rPr kumimoji="0" lang="en-US" altLang="en-US" sz="1600" b="0" i="0" u="none" strike="noStrike" cap="none" normalizeH="0" baseline="0" dirty="0" err="1">
                <a:ln>
                  <a:noFill/>
                </a:ln>
                <a:effectLst/>
                <a:latin typeface="Courier New" panose="02070309020205020404" pitchFamily="49" charset="0"/>
              </a:rPr>
              <a:t>tool_use</a:t>
            </a:r>
            <a:r>
              <a:rPr kumimoji="0" lang="en-US" altLang="en-US" sz="1600" b="0" i="0" u="none" strike="noStrike" cap="none" normalizeH="0" baseline="0" dirty="0">
                <a:ln>
                  <a:noFill/>
                </a:ln>
                <a:effectLst/>
                <a:latin typeface="Courier New" panose="02070309020205020404" pitchFamily="49" charset="0"/>
              </a:rPr>
              <a:t> block]}, {"role": "user", "content": [</a:t>
            </a:r>
            <a:r>
              <a:rPr kumimoji="0" lang="en-US" altLang="en-US" sz="1600" b="0" i="0" u="none" strike="noStrike" cap="none" normalizeH="0" baseline="0" dirty="0" err="1">
                <a:ln>
                  <a:noFill/>
                </a:ln>
                <a:effectLst/>
                <a:latin typeface="Courier New" panose="02070309020205020404" pitchFamily="49" charset="0"/>
              </a:rPr>
              <a:t>tool_result</a:t>
            </a:r>
            <a:r>
              <a:rPr kumimoji="0" lang="en-US" altLang="en-US" sz="1600" b="0" i="0" u="none" strike="noStrike" cap="none" normalizeH="0" baseline="0" dirty="0">
                <a:ln>
                  <a:noFill/>
                </a:ln>
                <a:effectLst/>
                <a:latin typeface="Courier New" panose="02070309020205020404" pitchFamily="49" charset="0"/>
              </a:rPr>
              <a:t>: "Ontario"]}, {"role": "assistant", "content": "Ontario has the highest..."}, ← added ] </a:t>
            </a:r>
            <a:br>
              <a:rPr kumimoji="0" lang="en-US" altLang="en-US" sz="1600" b="0" i="0" u="none" strike="noStrike" cap="none" normalizeH="0" baseline="0" dirty="0">
                <a:ln>
                  <a:noFill/>
                </a:ln>
                <a:effectLst/>
                <a:latin typeface="Courier New" panose="02070309020205020404" pitchFamily="49" charset="0"/>
              </a:rPr>
            </a:b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Step 5: Check </a:t>
            </a:r>
            <a:r>
              <a:rPr kumimoji="0" lang="en-US" altLang="en-US" sz="1600" b="1" i="0" u="none" strike="noStrike" cap="none" normalizeH="0" baseline="0" dirty="0" err="1">
                <a:ln>
                  <a:noFill/>
                </a:ln>
                <a:effectLst/>
                <a:latin typeface="-apple-system"/>
              </a:rPr>
              <a:t>stop_reason</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if </a:t>
            </a:r>
            <a:r>
              <a:rPr kumimoji="0" lang="en-US" altLang="en-US" sz="1600" b="0" i="0" u="none" strike="noStrike" cap="none" normalizeH="0" baseline="0" dirty="0" err="1">
                <a:ln>
                  <a:noFill/>
                </a:ln>
                <a:effectLst/>
                <a:latin typeface="Courier New" panose="02070309020205020404" pitchFamily="49" charset="0"/>
              </a:rPr>
              <a:t>response.stop_reason</a:t>
            </a:r>
            <a:r>
              <a:rPr kumimoji="0" lang="en-US" altLang="en-US" sz="1600" b="0" i="0" u="none" strike="noStrike" cap="none" normalizeH="0" baseline="0" dirty="0">
                <a:ln>
                  <a:noFill/>
                </a:ln>
                <a:effectLst/>
                <a:latin typeface="Courier New" panose="02070309020205020404" pitchFamily="49" charset="0"/>
              </a:rPr>
              <a:t> != "</a:t>
            </a:r>
            <a:r>
              <a:rPr kumimoji="0" lang="en-US" altLang="en-US" sz="1600" b="0" i="0" u="none" strike="noStrike" cap="none" normalizeH="0" baseline="0" dirty="0" err="1">
                <a:ln>
                  <a:noFill/>
                </a:ln>
                <a:effectLst/>
                <a:latin typeface="Courier New" panose="02070309020205020404" pitchFamily="49" charset="0"/>
              </a:rPr>
              <a:t>tool_use</a:t>
            </a:r>
            <a:r>
              <a:rPr kumimoji="0" lang="en-US" altLang="en-US" sz="1600" b="0" i="0" u="none" strike="noStrike" cap="none" normalizeH="0" baseline="0" dirty="0">
                <a:ln>
                  <a:noFill/>
                </a:ln>
                <a:effectLst/>
                <a:latin typeface="Courier New" panose="02070309020205020404" pitchFamily="49" charset="0"/>
              </a:rPr>
              <a:t>": # True — it is "</a:t>
            </a:r>
            <a:r>
              <a:rPr kumimoji="0" lang="en-US" altLang="en-US" sz="1600" b="0" i="0" u="none" strike="noStrike" cap="none" normalizeH="0" baseline="0" dirty="0" err="1">
                <a:ln>
                  <a:noFill/>
                </a:ln>
                <a:effectLst/>
                <a:latin typeface="Courier New" panose="02070309020205020404" pitchFamily="49" charset="0"/>
              </a:rPr>
              <a:t>end_turn</a:t>
            </a:r>
            <a:r>
              <a:rPr kumimoji="0" lang="en-US" altLang="en-US" sz="1600" b="0" i="0" u="none" strike="noStrike" cap="none" normalizeH="0" baseline="0" dirty="0">
                <a:ln>
                  <a:noFill/>
                </a:ln>
                <a:effectLst/>
                <a:latin typeface="Courier New" panose="02070309020205020404" pitchFamily="49" charset="0"/>
              </a:rPr>
              <a:t>" return "Ontario has the highest average value at 42.3..." </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Loop exits. Final answer returned.</a:t>
            </a:r>
            <a:endParaRPr kumimoji="0" lang="en-US" altLang="en-US" sz="1600" b="0" i="0" u="none" strike="noStrike" cap="none" normalizeH="0" baseline="0" dirty="0">
              <a:ln>
                <a:noFill/>
              </a:ln>
              <a:effectLst/>
            </a:endParaRPr>
          </a:p>
        </p:txBody>
      </p:sp>
      <p:sp>
        <p:nvSpPr>
          <p:cNvPr id="4" name="TextBox 3">
            <a:extLst>
              <a:ext uri="{FF2B5EF4-FFF2-40B4-BE49-F238E27FC236}">
                <a16:creationId xmlns:a16="http://schemas.microsoft.com/office/drawing/2014/main" id="{A4638188-2E53-8DCB-1588-F7686B2BA562}"/>
              </a:ext>
            </a:extLst>
          </p:cNvPr>
          <p:cNvSpPr txBox="1"/>
          <p:nvPr/>
        </p:nvSpPr>
        <p:spPr>
          <a:xfrm>
            <a:off x="3292033" y="12679"/>
            <a:ext cx="611722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apple-system"/>
              </a:rPr>
              <a:t>Iteration 2 — Claude interprets the result</a:t>
            </a:r>
          </a:p>
        </p:txBody>
      </p:sp>
    </p:spTree>
    <p:extLst>
      <p:ext uri="{BB962C8B-B14F-4D97-AF65-F5344CB8AC3E}">
        <p14:creationId xmlns:p14="http://schemas.microsoft.com/office/powerpoint/2010/main" val="838331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3F0CAE-4772-6A79-2F2C-9C59C0C83F64}"/>
              </a:ext>
            </a:extLst>
          </p:cNvPr>
          <p:cNvSpPr>
            <a:spLocks noChangeArrowheads="1"/>
          </p:cNvSpPr>
          <p:nvPr/>
        </p:nvSpPr>
        <p:spPr bwMode="auto">
          <a:xfrm>
            <a:off x="127321" y="665306"/>
            <a:ext cx="5683170" cy="3200876"/>
          </a:xfrm>
          <a:prstGeom prst="rect">
            <a:avLst/>
          </a:prstGeom>
          <a:solidFill>
            <a:schemeClr val="accent2">
              <a:lumMod val="20000"/>
              <a:lumOff val="80000"/>
            </a:schemeClr>
          </a:solid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apple-system"/>
              </a:rPr>
              <a:t>What if Claude's code errors?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Iteration 1 returns </a:t>
            </a:r>
            <a:r>
              <a:rPr kumimoji="0" lang="en-US" altLang="en-US" sz="1600" b="0" i="0" u="none" strike="noStrike" cap="none" normalizeH="0" baseline="0" dirty="0">
                <a:ln>
                  <a:noFill/>
                </a:ln>
                <a:effectLst/>
                <a:latin typeface="Courier New" panose="02070309020205020404" pitchFamily="49" charset="0"/>
              </a:rPr>
              <a:t>"</a:t>
            </a:r>
            <a:r>
              <a:rPr kumimoji="0" lang="en-US" altLang="en-US" sz="1600" b="0" i="0" u="none" strike="noStrike" cap="none" normalizeH="0" baseline="0" dirty="0" err="1">
                <a:ln>
                  <a:noFill/>
                </a:ln>
                <a:effectLst/>
                <a:latin typeface="Courier New" panose="02070309020205020404" pitchFamily="49" charset="0"/>
              </a:rPr>
              <a:t>Error:KeyError</a:t>
            </a:r>
            <a:r>
              <a:rPr kumimoji="0" lang="en-US" altLang="en-US" sz="1600" b="0" i="0" u="none" strike="noStrike" cap="none" normalizeH="0" baseline="0" dirty="0">
                <a:ln>
                  <a:noFill/>
                </a:ln>
                <a:effectLst/>
                <a:latin typeface="Courier New" panose="02070309020205020404" pitchFamily="49" charset="0"/>
              </a:rPr>
              <a:t>:'Province'"</a:t>
            </a:r>
            <a:r>
              <a:rPr kumimoji="0" lang="en-US" altLang="en-US" sz="1600" b="0" i="0" u="none" strike="noStrike" cap="none" normalizeH="0" baseline="0" dirty="0">
                <a:ln>
                  <a:noFill/>
                </a:ln>
                <a:effectLst/>
                <a:latin typeface="-apple-system"/>
              </a:rPr>
              <a:t> instead of </a:t>
            </a:r>
            <a:r>
              <a:rPr kumimoji="0" lang="en-US" altLang="en-US" sz="1600" b="0" i="0" u="none" strike="noStrike" cap="none" normalizeH="0" baseline="0" dirty="0">
                <a:ln>
                  <a:noFill/>
                </a:ln>
                <a:effectLst/>
                <a:latin typeface="Courier New" panose="02070309020205020404" pitchFamily="49" charset="0"/>
              </a:rPr>
              <a:t>"Ontario"</a:t>
            </a:r>
            <a:r>
              <a:rPr kumimoji="0" lang="en-US" altLang="en-US" sz="1600" b="0" i="0" u="none" strike="noStrike" cap="none" normalizeH="0" baseline="0" dirty="0">
                <a:ln>
                  <a:noFill/>
                </a:ln>
                <a:effectLst/>
                <a:latin typeface="-apple-system"/>
              </a:rPr>
              <a:t>.</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Messages becomes:</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urier New" panose="02070309020205020404" pitchFamily="49" charset="0"/>
              </a:rPr>
              <a:t>[ {"role": "user", "content": "Which province has the highest value?"}, {"role": "assistant", "content": [</a:t>
            </a:r>
            <a:r>
              <a:rPr kumimoji="0" lang="en-US" altLang="en-US" sz="1600" b="0" i="0" u="none" strike="noStrike" cap="none" normalizeH="0" baseline="0" dirty="0" err="1">
                <a:ln>
                  <a:noFill/>
                </a:ln>
                <a:effectLst/>
                <a:latin typeface="Courier New" panose="02070309020205020404" pitchFamily="49" charset="0"/>
              </a:rPr>
              <a:t>tool_use</a:t>
            </a:r>
            <a:r>
              <a:rPr kumimoji="0" lang="en-US" altLang="en-US" sz="1600" b="0" i="0" u="none" strike="noStrike" cap="none" normalizeH="0" baseline="0" dirty="0">
                <a:ln>
                  <a:noFill/>
                </a:ln>
                <a:effectLst/>
                <a:latin typeface="Courier New" panose="02070309020205020404" pitchFamily="49" charset="0"/>
              </a:rPr>
              <a:t>: bad code]}, {"role": "user", "content": [</a:t>
            </a:r>
            <a:r>
              <a:rPr kumimoji="0" lang="en-US" altLang="en-US" sz="1600" b="0" i="0" u="none" strike="noStrike" cap="none" normalizeH="0" baseline="0" dirty="0" err="1">
                <a:ln>
                  <a:noFill/>
                </a:ln>
                <a:effectLst/>
                <a:latin typeface="Courier New" panose="02070309020205020404" pitchFamily="49" charset="0"/>
              </a:rPr>
              <a:t>tool_result</a:t>
            </a:r>
            <a:r>
              <a:rPr kumimoji="0" lang="en-US" altLang="en-US" sz="1600" b="0" i="0" u="none" strike="noStrike" cap="none" normalizeH="0" baseline="0" dirty="0">
                <a:ln>
                  <a:noFill/>
                </a:ln>
                <a:effectLst/>
                <a:latin typeface="Courier New" panose="02070309020205020404" pitchFamily="49" charset="0"/>
              </a:rPr>
              <a:t>: "</a:t>
            </a:r>
            <a:r>
              <a:rPr kumimoji="0" lang="en-US" altLang="en-US" sz="1600" b="0" i="0" u="none" strike="noStrike" cap="none" normalizeH="0" baseline="0" dirty="0" err="1">
                <a:ln>
                  <a:noFill/>
                </a:ln>
                <a:effectLst/>
                <a:latin typeface="Courier New" panose="02070309020205020404" pitchFamily="49" charset="0"/>
              </a:rPr>
              <a:t>Error:KeyError</a:t>
            </a:r>
            <a:r>
              <a:rPr kumimoji="0" lang="en-US" altLang="en-US" sz="1600" b="0" i="0" u="none" strike="noStrike" cap="none" normalizeH="0" baseline="0" dirty="0">
                <a:ln>
                  <a:noFill/>
                </a:ln>
                <a:effectLst/>
                <a:latin typeface="Courier New" panose="02070309020205020404" pitchFamily="49" charset="0"/>
              </a:rPr>
              <a:t>:'Province'"]}, ] </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Iteration 2: Claude sees its own error, writes fixed code → </a:t>
            </a:r>
            <a:r>
              <a:rPr kumimoji="0" lang="en-US" altLang="en-US" sz="1600" b="0" i="0" u="none" strike="noStrike" cap="none" normalizeH="0" baseline="0" dirty="0" err="1">
                <a:ln>
                  <a:noFill/>
                </a:ln>
                <a:effectLst/>
                <a:latin typeface="Courier New" panose="02070309020205020404" pitchFamily="49" charset="0"/>
              </a:rPr>
              <a:t>tool_use</a:t>
            </a:r>
            <a:r>
              <a:rPr kumimoji="0" lang="en-US" altLang="en-US" sz="1600" b="0" i="0" u="none" strike="noStrike" cap="none" normalizeH="0" baseline="0" dirty="0">
                <a:ln>
                  <a:noFill/>
                </a:ln>
                <a:effectLst/>
                <a:latin typeface="-apple-system"/>
              </a:rPr>
              <a:t> again.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ple-system"/>
              </a:rPr>
              <a:t>Iteration 3: Fixed code runs → result → Claude interprets → </a:t>
            </a:r>
            <a:r>
              <a:rPr kumimoji="0" lang="en-US" altLang="en-US" sz="1600" b="0" i="0" u="none" strike="noStrike" cap="none" normalizeH="0" baseline="0" dirty="0" err="1">
                <a:ln>
                  <a:noFill/>
                </a:ln>
                <a:effectLst/>
                <a:latin typeface="Courier New" panose="02070309020205020404" pitchFamily="49" charset="0"/>
              </a:rPr>
              <a:t>end_turn</a:t>
            </a:r>
            <a:r>
              <a:rPr kumimoji="0" lang="en-US" altLang="en-US" sz="1600" b="0" i="0" u="none" strike="noStrike" cap="none" normalizeH="0" baseline="0" dirty="0">
                <a:ln>
                  <a:noFill/>
                </a:ln>
                <a:effectLst/>
                <a:latin typeface="-apple-system"/>
              </a:rPr>
              <a:t> → exits.</a:t>
            </a:r>
            <a:endParaRPr kumimoji="0" lang="en-US" altLang="en-US" sz="1600" b="0" i="0" u="none" strike="noStrike" cap="none" normalizeH="0" baseline="0" dirty="0">
              <a:ln>
                <a:noFill/>
              </a:ln>
              <a:effectLst/>
            </a:endParaRPr>
          </a:p>
        </p:txBody>
      </p:sp>
      <p:pic>
        <p:nvPicPr>
          <p:cNvPr id="3" name="Picture 2">
            <a:extLst>
              <a:ext uri="{FF2B5EF4-FFF2-40B4-BE49-F238E27FC236}">
                <a16:creationId xmlns:a16="http://schemas.microsoft.com/office/drawing/2014/main" id="{F64EB039-5338-6738-D640-2853AB2EFEB1}"/>
              </a:ext>
            </a:extLst>
          </p:cNvPr>
          <p:cNvPicPr>
            <a:picLocks noChangeAspect="1"/>
          </p:cNvPicPr>
          <p:nvPr/>
        </p:nvPicPr>
        <p:blipFill>
          <a:blip r:embed="rId2"/>
          <a:stretch>
            <a:fillRect/>
          </a:stretch>
        </p:blipFill>
        <p:spPr>
          <a:xfrm>
            <a:off x="6096000" y="197406"/>
            <a:ext cx="5867400" cy="6235700"/>
          </a:xfrm>
          <a:prstGeom prst="rect">
            <a:avLst/>
          </a:prstGeom>
        </p:spPr>
      </p:pic>
    </p:spTree>
    <p:extLst>
      <p:ext uri="{BB962C8B-B14F-4D97-AF65-F5344CB8AC3E}">
        <p14:creationId xmlns:p14="http://schemas.microsoft.com/office/powerpoint/2010/main" val="2200185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933C0B-094A-739A-9799-1C95D297B895}"/>
              </a:ext>
            </a:extLst>
          </p:cNvPr>
          <p:cNvSpPr txBox="1"/>
          <p:nvPr/>
        </p:nvSpPr>
        <p:spPr>
          <a:xfrm>
            <a:off x="1" y="-79653"/>
            <a:ext cx="12191999" cy="7017306"/>
          </a:xfrm>
          <a:prstGeom prst="rect">
            <a:avLst/>
          </a:prstGeom>
          <a:noFill/>
        </p:spPr>
        <p:txBody>
          <a:bodyPr wrap="square">
            <a:spAutoFit/>
          </a:bodyPr>
          <a:lstStyle/>
          <a:p>
            <a:pPr>
              <a:buNone/>
            </a:pPr>
            <a:r>
              <a:rPr lang="en-CA" b="1" dirty="0" err="1"/>
              <a:t>MapleVitals</a:t>
            </a:r>
            <a:r>
              <a:rPr lang="en-CA" b="1" dirty="0"/>
              <a:t> — RAG &amp; Embeddings Foundation (Revision Notes)</a:t>
            </a:r>
            <a:endParaRPr lang="en-CA" dirty="0"/>
          </a:p>
          <a:p>
            <a:pPr>
              <a:buNone/>
            </a:pPr>
            <a:r>
              <a:rPr lang="en-CA" b="1" dirty="0"/>
              <a:t>1. Embedding = meaning as a position</a:t>
            </a:r>
            <a:endParaRPr lang="en-CA" dirty="0"/>
          </a:p>
          <a:p>
            <a:pPr>
              <a:buFont typeface="Arial" panose="020B0604020202020204" pitchFamily="34" charset="0"/>
              <a:buChar char="•"/>
            </a:pPr>
            <a:r>
              <a:rPr lang="en-CA" dirty="0"/>
              <a:t>An embedding converts text → a fixed list of numbers (384 for </a:t>
            </a:r>
            <a:r>
              <a:rPr lang="en-CA" dirty="0">
                <a:latin typeface="Courier New" panose="02070309020205020404" pitchFamily="49" charset="0"/>
              </a:rPr>
              <a:t>all-MiniLM-L6-v2</a:t>
            </a:r>
            <a:r>
              <a:rPr lang="en-CA" dirty="0"/>
              <a:t>).</a:t>
            </a:r>
          </a:p>
          <a:p>
            <a:pPr>
              <a:buFont typeface="Arial" panose="020B0604020202020204" pitchFamily="34" charset="0"/>
              <a:buChar char="•"/>
            </a:pPr>
            <a:r>
              <a:rPr lang="en-CA" dirty="0"/>
              <a:t>Those numbers are an </a:t>
            </a:r>
            <a:r>
              <a:rPr lang="en-CA" i="1" dirty="0"/>
              <a:t>address</a:t>
            </a:r>
            <a:r>
              <a:rPr lang="en-CA" dirty="0"/>
              <a:t> in 384-D space. Similar meaning → nearby addresses.</a:t>
            </a:r>
          </a:p>
          <a:p>
            <a:pPr>
              <a:buFont typeface="Arial" panose="020B0604020202020204" pitchFamily="34" charset="0"/>
              <a:buChar char="•"/>
            </a:pPr>
            <a:r>
              <a:rPr lang="en-CA" dirty="0"/>
              <a:t>Meaning becomes distance. This is the engine of RAG retrieval.</a:t>
            </a:r>
          </a:p>
          <a:p>
            <a:pPr>
              <a:buNone/>
            </a:pPr>
            <a:r>
              <a:rPr lang="en-CA" b="1" dirty="0"/>
              <a:t>2. The 384 numbers</a:t>
            </a:r>
            <a:endParaRPr lang="en-CA" dirty="0"/>
          </a:p>
          <a:p>
            <a:pPr>
              <a:buFont typeface="Arial" panose="020B0604020202020204" pitchFamily="34" charset="0"/>
              <a:buChar char="•"/>
            </a:pPr>
            <a:r>
              <a:rPr lang="en-CA" dirty="0"/>
              <a:t>Plain decimals (positive/negative, no units), e.g. </a:t>
            </a:r>
            <a:r>
              <a:rPr lang="en-CA" dirty="0">
                <a:latin typeface="Courier New" panose="02070309020205020404" pitchFamily="49" charset="0"/>
              </a:rPr>
              <a:t>[0.043, -0.127, 0.981, ...]</a:t>
            </a:r>
            <a:r>
              <a:rPr lang="en-CA" dirty="0"/>
              <a:t>.</a:t>
            </a:r>
          </a:p>
          <a:p>
            <a:pPr>
              <a:buFont typeface="Arial" panose="020B0604020202020204" pitchFamily="34" charset="0"/>
              <a:buChar char="•"/>
            </a:pPr>
            <a:r>
              <a:rPr lang="en-CA" dirty="0"/>
              <a:t>No single number is human-readable (column 7 ≠ "diabetes-ness"). Only the </a:t>
            </a:r>
            <a:r>
              <a:rPr lang="en-CA" i="1" dirty="0"/>
              <a:t>whole pattern</a:t>
            </a:r>
            <a:r>
              <a:rPr lang="en-CA" dirty="0"/>
              <a:t> matters.</a:t>
            </a:r>
          </a:p>
          <a:p>
            <a:pPr>
              <a:buFont typeface="Arial" panose="020B0604020202020204" pitchFamily="34" charset="0"/>
              <a:buChar char="•"/>
            </a:pPr>
            <a:r>
              <a:rPr lang="en-CA" dirty="0"/>
              <a:t>Analogy: like GPS — one coordinate alone means nothing; the full set points to a place.</a:t>
            </a:r>
          </a:p>
          <a:p>
            <a:pPr>
              <a:buNone/>
            </a:pPr>
            <a:r>
              <a:rPr lang="en-CA" b="1" dirty="0"/>
              <a:t>3. Why 384</a:t>
            </a:r>
            <a:endParaRPr lang="en-CA" dirty="0"/>
          </a:p>
          <a:p>
            <a:pPr>
              <a:buFont typeface="Arial" panose="020B0604020202020204" pitchFamily="34" charset="0"/>
              <a:buChar char="•"/>
            </a:pPr>
            <a:r>
              <a:rPr lang="en-CA" dirty="0"/>
              <a:t>It's the model's </a:t>
            </a:r>
            <a:r>
              <a:rPr lang="en-CA" i="1" dirty="0"/>
              <a:t>width</a:t>
            </a:r>
            <a:r>
              <a:rPr lang="en-CA" dirty="0"/>
              <a:t> (hidden dimension) — a capacity vs. speed dial.</a:t>
            </a:r>
          </a:p>
          <a:p>
            <a:pPr>
              <a:buFont typeface="Arial" panose="020B0604020202020204" pitchFamily="34" charset="0"/>
              <a:buChar char="•"/>
            </a:pPr>
            <a:r>
              <a:rPr lang="en-CA" dirty="0"/>
              <a:t>Too few = meanings blur; too many = slower, heavier, more data needed.</a:t>
            </a:r>
          </a:p>
          <a:p>
            <a:pPr>
              <a:buFont typeface="Arial" panose="020B0604020202020204" pitchFamily="34" charset="0"/>
              <a:buChar char="•"/>
            </a:pPr>
            <a:r>
              <a:rPr lang="en-CA" dirty="0"/>
              <a:t>"Mini" = deliberately compact/fast. Bigger models use 1536 or 3072. 384 is plenty for a focused corpus.</a:t>
            </a:r>
          </a:p>
          <a:p>
            <a:pPr>
              <a:buNone/>
            </a:pPr>
            <a:r>
              <a:rPr lang="en-CA" b="1" dirty="0"/>
              <a:t>4. Chunk vs. token (key distinction)</a:t>
            </a:r>
            <a:endParaRPr lang="en-CA" dirty="0"/>
          </a:p>
          <a:p>
            <a:pPr>
              <a:buFont typeface="Arial" panose="020B0604020202020204" pitchFamily="34" charset="0"/>
              <a:buChar char="•"/>
            </a:pPr>
            <a:r>
              <a:rPr lang="en-CA" b="1" dirty="0"/>
              <a:t>Chunk</a:t>
            </a:r>
            <a:r>
              <a:rPr lang="en-CA" dirty="0"/>
              <a:t> = a passage </a:t>
            </a:r>
            <a:r>
              <a:rPr lang="en-CA" i="1" dirty="0"/>
              <a:t>you</a:t>
            </a:r>
            <a:r>
              <a:rPr lang="en-CA" dirty="0"/>
              <a:t> pre-slice from your corpus and store. No stop-word removal.</a:t>
            </a:r>
          </a:p>
          <a:p>
            <a:pPr>
              <a:buFont typeface="Arial" panose="020B0604020202020204" pitchFamily="34" charset="0"/>
              <a:buChar char="•"/>
            </a:pPr>
            <a:r>
              <a:rPr lang="en-CA" b="1" dirty="0"/>
              <a:t>Token</a:t>
            </a:r>
            <a:r>
              <a:rPr lang="en-CA" dirty="0"/>
              <a:t> = throwaway internal step (word-pieces) used inside the model, then discarded. Never stored, never searched.</a:t>
            </a:r>
          </a:p>
          <a:p>
            <a:pPr>
              <a:buNone/>
            </a:pPr>
            <a:r>
              <a:rPr lang="en-CA" b="1" dirty="0"/>
              <a:t>5. How text becomes an embedding (inside the model)</a:t>
            </a:r>
            <a:endParaRPr lang="en-CA" dirty="0"/>
          </a:p>
          <a:p>
            <a:pPr>
              <a:buFont typeface="Arial" panose="020B0604020202020204" pitchFamily="34" charset="0"/>
              <a:buChar char="•"/>
            </a:pPr>
            <a:r>
              <a:rPr lang="en-CA" dirty="0"/>
              <a:t>text → </a:t>
            </a:r>
            <a:r>
              <a:rPr lang="en-CA" b="1" dirty="0"/>
              <a:t>tokens</a:t>
            </a:r>
            <a:r>
              <a:rPr lang="en-CA" dirty="0"/>
              <a:t> → </a:t>
            </a:r>
            <a:r>
              <a:rPr lang="en-CA" b="1" dirty="0"/>
              <a:t>starting vectors</a:t>
            </a:r>
            <a:r>
              <a:rPr lang="en-CA" dirty="0"/>
              <a:t> (lookup table; context-blind) → </a:t>
            </a:r>
            <a:r>
              <a:rPr lang="en-CA" b="1" dirty="0"/>
              <a:t>attention</a:t>
            </a:r>
            <a:r>
              <a:rPr lang="en-CA" dirty="0"/>
              <a:t> (words update by looking at neighbors → adds context) → </a:t>
            </a:r>
            <a:r>
              <a:rPr lang="en-CA" b="1" dirty="0"/>
              <a:t>pool</a:t>
            </a:r>
            <a:r>
              <a:rPr lang="en-CA" dirty="0"/>
              <a:t> (combine into one vector) → 384-number embedding.</a:t>
            </a:r>
          </a:p>
          <a:p>
            <a:pPr>
              <a:buFont typeface="Arial" panose="020B0604020202020204" pitchFamily="34" charset="0"/>
              <a:buChar char="•"/>
            </a:pPr>
            <a:r>
              <a:rPr lang="en-CA" dirty="0"/>
              <a:t>Attention is the heart of the transformer (next topic).</a:t>
            </a:r>
          </a:p>
          <a:p>
            <a:pPr>
              <a:buNone/>
            </a:pPr>
            <a:r>
              <a:rPr lang="en-CA" b="1" dirty="0"/>
              <a:t>6. The two-phase RAG pipeline</a:t>
            </a:r>
            <a:endParaRPr lang="en-CA" dirty="0"/>
          </a:p>
          <a:p>
            <a:pPr>
              <a:buFont typeface="Arial" panose="020B0604020202020204" pitchFamily="34" charset="0"/>
              <a:buChar char="•"/>
            </a:pPr>
            <a:r>
              <a:rPr lang="en-CA" b="1" dirty="0"/>
              <a:t>Phase A — Indexing (once):</a:t>
            </a:r>
            <a:r>
              <a:rPr lang="en-CA" dirty="0"/>
              <a:t> corpus → chunks → embed each → store in Chroma. Result: </a:t>
            </a:r>
            <a:r>
              <a:rPr lang="en-CA" dirty="0">
                <a:latin typeface="Courier New" panose="02070309020205020404" pitchFamily="49" charset="0"/>
              </a:rPr>
              <a:t>N × 384</a:t>
            </a:r>
            <a:r>
              <a:rPr lang="en-CA" dirty="0"/>
              <a:t> matrix.</a:t>
            </a:r>
          </a:p>
          <a:p>
            <a:pPr>
              <a:buFont typeface="Arial" panose="020B0604020202020204" pitchFamily="34" charset="0"/>
              <a:buChar char="•"/>
            </a:pPr>
            <a:r>
              <a:rPr lang="en-CA" b="1" dirty="0"/>
              <a:t>Phase B — Query (every question):</a:t>
            </a:r>
            <a:r>
              <a:rPr lang="en-CA" dirty="0"/>
              <a:t> question → embed with the </a:t>
            </a:r>
            <a:r>
              <a:rPr lang="en-CA" i="1" dirty="0"/>
              <a:t>same</a:t>
            </a:r>
            <a:r>
              <a:rPr lang="en-CA" dirty="0"/>
              <a:t> model → cosine similarity vs. all stored embeddings → return top-k closest chunks.</a:t>
            </a:r>
          </a:p>
          <a:p>
            <a:pPr>
              <a:buFont typeface="Arial" panose="020B0604020202020204" pitchFamily="34" charset="0"/>
              <a:buChar char="•"/>
            </a:pPr>
            <a:r>
              <a:rPr lang="en-CA" b="1" dirty="0"/>
              <a:t>Key symmetry:</a:t>
            </a:r>
            <a:r>
              <a:rPr lang="en-CA" dirty="0"/>
              <a:t> question and chunks use the </a:t>
            </a:r>
            <a:r>
              <a:rPr lang="en-CA" i="1" dirty="0"/>
              <a:t>same</a:t>
            </a:r>
            <a:r>
              <a:rPr lang="en-CA" dirty="0"/>
              <a:t> embedding model → same space → fair comparison.</a:t>
            </a:r>
          </a:p>
        </p:txBody>
      </p:sp>
    </p:spTree>
    <p:extLst>
      <p:ext uri="{BB962C8B-B14F-4D97-AF65-F5344CB8AC3E}">
        <p14:creationId xmlns:p14="http://schemas.microsoft.com/office/powerpoint/2010/main" val="2244743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EEBC2-75D4-C83C-D2C3-1C68D2E4207C}"/>
              </a:ext>
            </a:extLst>
          </p:cNvPr>
          <p:cNvSpPr txBox="1"/>
          <p:nvPr/>
        </p:nvSpPr>
        <p:spPr>
          <a:xfrm>
            <a:off x="89209" y="889843"/>
            <a:ext cx="12191999" cy="5078313"/>
          </a:xfrm>
          <a:prstGeom prst="rect">
            <a:avLst/>
          </a:prstGeom>
          <a:noFill/>
        </p:spPr>
        <p:txBody>
          <a:bodyPr wrap="square">
            <a:spAutoFit/>
          </a:bodyPr>
          <a:lstStyle/>
          <a:p>
            <a:pPr>
              <a:buNone/>
            </a:pPr>
            <a:r>
              <a:rPr lang="en-CA" b="1" dirty="0"/>
              <a:t>7. What's stored vs. computed</a:t>
            </a:r>
            <a:endParaRPr lang="en-CA" dirty="0"/>
          </a:p>
          <a:p>
            <a:pPr>
              <a:buFont typeface="Arial" panose="020B0604020202020204" pitchFamily="34" charset="0"/>
              <a:buChar char="•"/>
            </a:pPr>
            <a:r>
              <a:rPr lang="en-CA" b="1" dirty="0"/>
              <a:t>Stored once (in Chroma):</a:t>
            </a:r>
            <a:r>
              <a:rPr lang="en-CA" dirty="0"/>
              <a:t> the 384-number </a:t>
            </a:r>
            <a:r>
              <a:rPr lang="en-CA" i="1" dirty="0"/>
              <a:t>addresses</a:t>
            </a:r>
            <a:r>
              <a:rPr lang="en-CA" dirty="0"/>
              <a:t> (embeddings).</a:t>
            </a:r>
          </a:p>
          <a:p>
            <a:pPr>
              <a:buFont typeface="Arial" panose="020B0604020202020204" pitchFamily="34" charset="0"/>
              <a:buChar char="•"/>
            </a:pPr>
            <a:r>
              <a:rPr lang="en-CA" b="1" dirty="0"/>
              <a:t>Computed fresh (per question):</a:t>
            </a:r>
            <a:r>
              <a:rPr lang="en-CA" dirty="0"/>
              <a:t> cosine similarity = distance between two addresses.</a:t>
            </a:r>
          </a:p>
          <a:p>
            <a:pPr>
              <a:buFont typeface="Arial" panose="020B0604020202020204" pitchFamily="34" charset="0"/>
              <a:buChar char="•"/>
            </a:pPr>
            <a:r>
              <a:rPr lang="en-CA" dirty="0"/>
              <a:t>Addresses are permanent; distances are on-demand.</a:t>
            </a:r>
          </a:p>
          <a:p>
            <a:pPr>
              <a:buNone/>
            </a:pPr>
            <a:r>
              <a:rPr lang="en-CA" b="1" dirty="0"/>
              <a:t>8. Three models/objects — keep distinct</a:t>
            </a:r>
            <a:endParaRPr lang="en-CA" dirty="0"/>
          </a:p>
          <a:p>
            <a:pPr>
              <a:buFont typeface="Arial" panose="020B0604020202020204" pitchFamily="34" charset="0"/>
              <a:buChar char="•"/>
            </a:pPr>
            <a:r>
              <a:rPr lang="en-CA" b="1" dirty="0"/>
              <a:t>Embedding model</a:t>
            </a:r>
            <a:r>
              <a:rPr lang="en-CA" dirty="0"/>
              <a:t> (</a:t>
            </a:r>
            <a:r>
              <a:rPr lang="en-CA" dirty="0">
                <a:latin typeface="Courier New" panose="02070309020205020404" pitchFamily="49" charset="0"/>
              </a:rPr>
              <a:t>all-</a:t>
            </a:r>
            <a:r>
              <a:rPr lang="en-CA" dirty="0" err="1">
                <a:latin typeface="Courier New" panose="02070309020205020404" pitchFamily="49" charset="0"/>
              </a:rPr>
              <a:t>MiniLM</a:t>
            </a:r>
            <a:r>
              <a:rPr lang="en-CA" dirty="0"/>
              <a:t>) = the "camera": text → vectors.</a:t>
            </a:r>
          </a:p>
          <a:p>
            <a:pPr>
              <a:buFont typeface="Arial" panose="020B0604020202020204" pitchFamily="34" charset="0"/>
              <a:buChar char="•"/>
            </a:pPr>
            <a:r>
              <a:rPr lang="en-CA" b="1" dirty="0"/>
              <a:t>Chroma matrix</a:t>
            </a:r>
            <a:r>
              <a:rPr lang="en-CA" dirty="0"/>
              <a:t> (</a:t>
            </a:r>
            <a:r>
              <a:rPr lang="en-CA" dirty="0">
                <a:latin typeface="Courier New" panose="02070309020205020404" pitchFamily="49" charset="0"/>
              </a:rPr>
              <a:t>N × 384</a:t>
            </a:r>
            <a:r>
              <a:rPr lang="en-CA" dirty="0"/>
              <a:t>) = the "photos": stored chunk addresses.</a:t>
            </a:r>
          </a:p>
          <a:p>
            <a:pPr>
              <a:buFont typeface="Arial" panose="020B0604020202020204" pitchFamily="34" charset="0"/>
              <a:buChar char="•"/>
            </a:pPr>
            <a:r>
              <a:rPr lang="en-CA" b="1" dirty="0"/>
              <a:t>LLM</a:t>
            </a:r>
            <a:r>
              <a:rPr lang="en-CA" dirty="0"/>
              <a:t> (Claude) = the "answer-writer": uses retrieved chunks to respond. Different, much bigger model.</a:t>
            </a:r>
          </a:p>
          <a:p>
            <a:pPr>
              <a:buNone/>
            </a:pPr>
            <a:r>
              <a:rPr lang="en-CA" b="1" dirty="0"/>
              <a:t>9. top-k</a:t>
            </a:r>
            <a:endParaRPr lang="en-CA" dirty="0"/>
          </a:p>
          <a:p>
            <a:pPr>
              <a:buFont typeface="Arial" panose="020B0604020202020204" pitchFamily="34" charset="0"/>
              <a:buChar char="•"/>
            </a:pPr>
            <a:r>
              <a:rPr lang="en-CA" dirty="0"/>
              <a:t>k = how many closest chunks to return (a knob you set; 3 is a common default).</a:t>
            </a:r>
          </a:p>
          <a:p>
            <a:pPr>
              <a:buFont typeface="Arial" panose="020B0604020202020204" pitchFamily="34" charset="0"/>
              <a:buChar char="•"/>
            </a:pPr>
            <a:r>
              <a:rPr lang="en-CA" dirty="0"/>
              <a:t>Retrieved chunks get pasted into Claude's prompt as grounding.</a:t>
            </a:r>
          </a:p>
          <a:p>
            <a:pPr>
              <a:buNone/>
            </a:pPr>
            <a:r>
              <a:rPr lang="en-CA" b="1" dirty="0"/>
              <a:t>10. </a:t>
            </a:r>
            <a:r>
              <a:rPr lang="en-CA" b="1" dirty="0" err="1"/>
              <a:t>MapleVitals</a:t>
            </a:r>
            <a:r>
              <a:rPr lang="en-CA" b="1" dirty="0"/>
              <a:t> mapping</a:t>
            </a:r>
            <a:endParaRPr lang="en-CA" dirty="0"/>
          </a:p>
          <a:p>
            <a:pPr>
              <a:buFont typeface="Arial" panose="020B0604020202020204" pitchFamily="34" charset="0"/>
              <a:buChar char="•"/>
            </a:pPr>
            <a:r>
              <a:rPr lang="en-CA" b="1" dirty="0"/>
              <a:t>Corpus:</a:t>
            </a:r>
            <a:r>
              <a:rPr lang="en-CA" dirty="0"/>
              <a:t> ~15–30 hand-curated </a:t>
            </a:r>
            <a:r>
              <a:rPr lang="en-CA" dirty="0" err="1"/>
              <a:t>StatCan</a:t>
            </a:r>
            <a:r>
              <a:rPr lang="en-CA" dirty="0"/>
              <a:t>/CCHS definition docs (your epidemiology deliverable).</a:t>
            </a:r>
          </a:p>
          <a:p>
            <a:pPr>
              <a:buFont typeface="Arial" panose="020B0604020202020204" pitchFamily="34" charset="0"/>
              <a:buChar char="•"/>
            </a:pPr>
            <a:r>
              <a:rPr lang="en-CA" b="1" dirty="0"/>
              <a:t>Indexing:</a:t>
            </a:r>
            <a:r>
              <a:rPr lang="en-CA" dirty="0"/>
              <a:t> embed each → Chroma </a:t>
            </a:r>
            <a:r>
              <a:rPr lang="en-CA" dirty="0" err="1">
                <a:latin typeface="Courier New" panose="02070309020205020404" pitchFamily="49" charset="0"/>
              </a:rPr>
              <a:t>PersistentClient</a:t>
            </a:r>
            <a:r>
              <a:rPr lang="en-CA" dirty="0"/>
              <a:t> (survives restarts) → ≈20 × 384.</a:t>
            </a:r>
          </a:p>
          <a:p>
            <a:pPr>
              <a:buFont typeface="Arial" panose="020B0604020202020204" pitchFamily="34" charset="0"/>
              <a:buChar char="•"/>
            </a:pPr>
            <a:r>
              <a:rPr lang="en-CA" b="1" dirty="0"/>
              <a:t>Query:</a:t>
            </a:r>
            <a:r>
              <a:rPr lang="en-CA" dirty="0"/>
              <a:t> user question → embed → retrieve closest definition chunk → paste into Claude's prompt.</a:t>
            </a:r>
          </a:p>
          <a:p>
            <a:pPr>
              <a:buFont typeface="Arial" panose="020B0604020202020204" pitchFamily="34" charset="0"/>
              <a:buChar char="•"/>
            </a:pPr>
            <a:r>
              <a:rPr lang="en-CA" b="1" dirty="0"/>
              <a:t>MOAT (citation-theater guardrail):</a:t>
            </a:r>
            <a:r>
              <a:rPr lang="en-CA" dirty="0"/>
              <a:t> cosine similarity </a:t>
            </a:r>
            <a:r>
              <a:rPr lang="en-CA" i="1" dirty="0"/>
              <a:t>always</a:t>
            </a:r>
            <a:r>
              <a:rPr lang="en-CA" dirty="0"/>
              <a:t> returns a closest chunk, even for uncovered terms ("closest" ≠ "relevant"). Guardrail rule: no definitional claim without genuine supporting retrieval → </a:t>
            </a:r>
            <a:r>
              <a:rPr lang="en-CA" b="1" dirty="0"/>
              <a:t>acknowledge the gap</a:t>
            </a:r>
            <a:r>
              <a:rPr lang="en-CA" dirty="0"/>
              <a:t> instead of faking a citation. Small curated corpus = retrieval quality is a </a:t>
            </a:r>
            <a:r>
              <a:rPr lang="en-CA" i="1" dirty="0"/>
              <a:t>design property</a:t>
            </a:r>
            <a:r>
              <a:rPr lang="en-CA" dirty="0"/>
              <a:t>, not luck.</a:t>
            </a:r>
          </a:p>
        </p:txBody>
      </p:sp>
    </p:spTree>
    <p:extLst>
      <p:ext uri="{BB962C8B-B14F-4D97-AF65-F5344CB8AC3E}">
        <p14:creationId xmlns:p14="http://schemas.microsoft.com/office/powerpoint/2010/main" val="3919756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D10AB1-BD42-3635-6C4E-60486F515F25}"/>
              </a:ext>
            </a:extLst>
          </p:cNvPr>
          <p:cNvSpPr txBox="1"/>
          <p:nvPr/>
        </p:nvSpPr>
        <p:spPr>
          <a:xfrm>
            <a:off x="0" y="612844"/>
            <a:ext cx="12192000" cy="6001643"/>
          </a:xfrm>
          <a:prstGeom prst="rect">
            <a:avLst/>
          </a:prstGeom>
          <a:noFill/>
        </p:spPr>
        <p:txBody>
          <a:bodyPr wrap="square">
            <a:spAutoFit/>
          </a:bodyPr>
          <a:lstStyle/>
          <a:p>
            <a:r>
              <a:rPr lang="en-US" sz="2400" b="1" dirty="0"/>
              <a:t>Grounding the interpretation: look it up before you explain it</a:t>
            </a:r>
          </a:p>
          <a:p>
            <a:endParaRPr lang="en-US" dirty="0"/>
          </a:p>
          <a:p>
            <a:r>
              <a:rPr lang="en-US" b="1" dirty="0"/>
              <a:t>WHAT "EXPLAIN" MEANS</a:t>
            </a:r>
          </a:p>
          <a:p>
            <a:r>
              <a:rPr lang="en-US" dirty="0"/>
              <a:t>After computing a number, the agent writes what it means: "self-report, not a clinical diagnosis”; "E flag = use with caution”; "2024 not comparable to 2015"</a:t>
            </a:r>
          </a:p>
          <a:p>
            <a:r>
              <a:rPr lang="en-US" b="1" dirty="0"/>
              <a:t>TODAY</a:t>
            </a:r>
            <a:r>
              <a:rPr lang="en-US" dirty="0"/>
              <a:t> those sentences come from model memory. Fluent, confident, unsourced, occasionally subtly wrong.</a:t>
            </a:r>
          </a:p>
          <a:p>
            <a:r>
              <a:rPr lang="en-US" b="1" dirty="0"/>
              <a:t>AFTER</a:t>
            </a:r>
            <a:r>
              <a:rPr lang="en-US" dirty="0"/>
              <a:t> </a:t>
            </a:r>
            <a:r>
              <a:rPr lang="en-US" b="1" dirty="0"/>
              <a:t>M2a</a:t>
            </a:r>
            <a:r>
              <a:rPr lang="en-US" dirty="0"/>
              <a:t>: insert a lookup step before the paragraph is written. Search curated </a:t>
            </a:r>
            <a:r>
              <a:rPr lang="en-US" dirty="0" err="1"/>
              <a:t>StatCan</a:t>
            </a:r>
            <a:r>
              <a:rPr lang="en-US" dirty="0"/>
              <a:t>/CCHS corpus → top 3 excerpts → write from those excerpts → tag each claim with its </a:t>
            </a:r>
            <a:r>
              <a:rPr lang="en-US" dirty="0" err="1"/>
              <a:t>doc_id</a:t>
            </a:r>
            <a:r>
              <a:rPr lang="en-US" dirty="0"/>
              <a:t>. "Grounding" = words anchored to a retrievable source.</a:t>
            </a:r>
          </a:p>
          <a:p>
            <a:r>
              <a:rPr lang="en-US" dirty="0"/>
              <a:t>NUMBERS DO NOT CHANGE. Same </a:t>
            </a:r>
            <a:r>
              <a:rPr lang="en-US" dirty="0" err="1"/>
              <a:t>run_python</a:t>
            </a:r>
            <a:r>
              <a:rPr lang="en-US" dirty="0"/>
              <a:t> loop, same chart, same quality contract. M2a touches only the prose half.</a:t>
            </a:r>
          </a:p>
          <a:p>
            <a:br>
              <a:rPr lang="en-US" dirty="0"/>
            </a:br>
            <a:r>
              <a:rPr lang="en-US" b="1" dirty="0"/>
              <a:t>"BUT TRAINING DATA IS ALSO A SOURCE"</a:t>
            </a:r>
          </a:p>
          <a:p>
            <a:r>
              <a:rPr lang="en-US" dirty="0"/>
              <a:t>True. The difference is not source vs. no source. It is:</a:t>
            </a:r>
          </a:p>
          <a:p>
            <a:pPr marL="342900" indent="-342900">
              <a:buAutoNum type="arabicPeriod"/>
            </a:pPr>
            <a:r>
              <a:rPr lang="en-US" dirty="0"/>
              <a:t>ADDRESSABLE  no </a:t>
            </a:r>
            <a:r>
              <a:rPr lang="en-US" dirty="0" err="1"/>
              <a:t>doc_id</a:t>
            </a:r>
            <a:r>
              <a:rPr lang="en-US" dirty="0"/>
              <a:t> in training memory; nothing to reread</a:t>
            </a:r>
          </a:p>
          <a:p>
            <a:pPr marL="342900" indent="-342900">
              <a:buAutoNum type="arabicPeriod"/>
            </a:pPr>
            <a:r>
              <a:rPr lang="en-US" dirty="0"/>
              <a:t>RECONSTRUCTED, NOT RECALLED  pattern-generated, can smooth several surveys into one plausible wrong definition</a:t>
            </a:r>
          </a:p>
          <a:p>
            <a:pPr marL="342900" indent="-342900">
              <a:buAutoNum type="arabicPeriod"/>
            </a:pPr>
            <a:r>
              <a:rPr lang="en-US"/>
              <a:t>CURATED my </a:t>
            </a:r>
            <a:r>
              <a:rPr lang="en-US" dirty="0"/>
              <a:t>corpus holds only text I trimmed from the real source; training data blends the real page with blogs and errors</a:t>
            </a:r>
          </a:p>
          <a:p>
            <a:pPr marL="342900" indent="-342900">
              <a:buAutoNum type="arabicPeriod"/>
            </a:pPr>
            <a:r>
              <a:rPr lang="en-US" dirty="0"/>
              <a:t>LIVE  </a:t>
            </a:r>
            <a:r>
              <a:rPr lang="en-US" dirty="0" err="1"/>
              <a:t>StatCan</a:t>
            </a:r>
            <a:r>
              <a:rPr lang="en-US" dirty="0"/>
              <a:t> revises; I edit a .md and re-run </a:t>
            </a:r>
            <a:r>
              <a:rPr lang="en-US" dirty="0" err="1"/>
              <a:t>build_index.py</a:t>
            </a:r>
            <a:endParaRPr lang="en-US" dirty="0"/>
          </a:p>
          <a:p>
            <a:endParaRPr lang="en-US" dirty="0"/>
          </a:p>
          <a:p>
            <a:r>
              <a:rPr lang="en-US" dirty="0"/>
              <a:t>BOTTOM LINE</a:t>
            </a:r>
          </a:p>
          <a:p>
            <a:r>
              <a:rPr lang="en-US" dirty="0"/>
              <a:t>A reviewer can audit a citation.</a:t>
            </a:r>
          </a:p>
          <a:p>
            <a:r>
              <a:rPr lang="en-US" dirty="0"/>
              <a:t>A reviewer cannot audit "the model knew it."</a:t>
            </a:r>
          </a:p>
        </p:txBody>
      </p:sp>
    </p:spTree>
    <p:extLst>
      <p:ext uri="{BB962C8B-B14F-4D97-AF65-F5344CB8AC3E}">
        <p14:creationId xmlns:p14="http://schemas.microsoft.com/office/powerpoint/2010/main" val="2076349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911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83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029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36078</TotalTime>
  <Words>5056</Words>
  <Application>Microsoft Macintosh PowerPoint</Application>
  <PresentationFormat>Widescreen</PresentationFormat>
  <Paragraphs>296</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-apple-system</vt:lpstr>
      <vt:lpstr>Aptos</vt:lpstr>
      <vt:lpstr>Aptos Display</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iti gupta</dc:creator>
  <cp:lastModifiedBy>iti gupta</cp:lastModifiedBy>
  <cp:revision>27</cp:revision>
  <cp:lastPrinted>2026-06-17T18:16:30Z</cp:lastPrinted>
  <dcterms:created xsi:type="dcterms:W3CDTF">2026-05-29T17:11:13Z</dcterms:created>
  <dcterms:modified xsi:type="dcterms:W3CDTF">2026-07-30T19:56:38Z</dcterms:modified>
</cp:coreProperties>
</file>